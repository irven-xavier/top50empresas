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24"/>
  </p:notesMasterIdLst>
  <p:handoutMasterIdLst>
    <p:handoutMasterId r:id="rId25"/>
  </p:handoutMasterIdLst>
  <p:sldIdLst>
    <p:sldId id="256" r:id="rId2"/>
    <p:sldId id="258" r:id="rId3"/>
    <p:sldId id="261" r:id="rId4"/>
    <p:sldId id="262" r:id="rId5"/>
    <p:sldId id="263" r:id="rId6"/>
    <p:sldId id="264" r:id="rId7"/>
    <p:sldId id="265" r:id="rId8"/>
    <p:sldId id="266" r:id="rId9"/>
    <p:sldId id="267" r:id="rId10"/>
    <p:sldId id="268" r:id="rId11"/>
    <p:sldId id="269" r:id="rId12"/>
    <p:sldId id="270" r:id="rId13"/>
    <p:sldId id="272" r:id="rId14"/>
    <p:sldId id="273" r:id="rId15"/>
    <p:sldId id="274" r:id="rId16"/>
    <p:sldId id="275" r:id="rId17"/>
    <p:sldId id="276" r:id="rId18"/>
    <p:sldId id="277" r:id="rId19"/>
    <p:sldId id="280" r:id="rId20"/>
    <p:sldId id="279" r:id="rId21"/>
    <p:sldId id="278" r:id="rId22"/>
    <p:sldId id="260" r:id="rId23"/>
  </p:sldIdLst>
  <p:sldSz cx="12192000" cy="6858000"/>
  <p:notesSz cx="6858000" cy="9144000"/>
  <p:defaultTextStyle>
    <a:defPPr rtl="0">
      <a:defRPr lang="pt-B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48" autoAdjust="0"/>
  </p:normalViewPr>
  <p:slideViewPr>
    <p:cSldViewPr snapToGrid="0">
      <p:cViewPr varScale="1">
        <p:scale>
          <a:sx n="78" d="100"/>
          <a:sy n="78" d="100"/>
        </p:scale>
        <p:origin x="414" y="7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5" d="100"/>
          <a:sy n="85" d="100"/>
        </p:scale>
        <p:origin x="3876"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t-BR"/>
          </a:p>
        </p:txBody>
      </p:sp>
      <p:sp>
        <p:nvSpPr>
          <p:cNvPr id="3" name="Espaço Reservado para Data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A517C7B7-34F5-4531-9889-28687F60FAC8}" type="datetime1">
              <a:rPr lang="pt-BR" smtClean="0"/>
              <a:t>24/05/2025</a:t>
            </a:fld>
            <a:endParaRPr lang="pt-BR" dirty="0"/>
          </a:p>
        </p:txBody>
      </p:sp>
      <p:sp>
        <p:nvSpPr>
          <p:cNvPr id="4" name="Espaço Reservado para Rodapé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t-BR"/>
          </a:p>
        </p:txBody>
      </p:sp>
      <p:sp>
        <p:nvSpPr>
          <p:cNvPr id="5" name="Espaço Reservado para o Número do Slide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pt-BR" smtClean="0"/>
              <a:t>‹nº›</a:t>
            </a:fld>
            <a:endParaRPr lang="pt-BR"/>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t-BR" noProof="0"/>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C3EC75-555C-481D-9088-738CE6DDFC83}" type="datetime1">
              <a:rPr lang="pt-BR" smtClean="0"/>
              <a:pPr/>
              <a:t>24/05/2025</a:t>
            </a:fld>
            <a:endParaRPr lang="pt-BR" dirty="0"/>
          </a:p>
        </p:txBody>
      </p:sp>
      <p:sp>
        <p:nvSpPr>
          <p:cNvPr id="4" name="Espaço Reservado para Imagem do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pt-BR" noProof="0"/>
          </a:p>
        </p:txBody>
      </p:sp>
      <p:sp>
        <p:nvSpPr>
          <p:cNvPr id="5" name="Espaço Reservado para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t-BR" noProof="0"/>
              <a:t>Clique para editar o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t-BR" noProof="0"/>
          </a:p>
        </p:txBody>
      </p:sp>
      <p:sp>
        <p:nvSpPr>
          <p:cNvPr id="7" name="Espaço Reservado para o Número do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pt-BR" noProof="0" smtClean="0"/>
              <a:t>‹nº›</a:t>
            </a:fld>
            <a:endParaRPr lang="pt-BR"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pt-BR" noProof="0" dirty="0"/>
          </a:p>
        </p:txBody>
      </p:sp>
      <p:sp>
        <p:nvSpPr>
          <p:cNvPr id="4" name="Espaço Reservado para o Número do Slide 3"/>
          <p:cNvSpPr>
            <a:spLocks noGrp="1"/>
          </p:cNvSpPr>
          <p:nvPr>
            <p:ph type="sldNum" sz="quarter" idx="5"/>
          </p:nvPr>
        </p:nvSpPr>
        <p:spPr/>
        <p:txBody>
          <a:bodyPr rtlCol="0"/>
          <a:lstStyle/>
          <a:p>
            <a:pPr rtl="0"/>
            <a:fld id="{C6B3AB32-59DF-41F1-9618-EDFBF5049629}" type="slidenum">
              <a:rPr lang="pt-BR" smtClean="0"/>
              <a:t>1</a:t>
            </a:fld>
            <a:endParaRPr lang="pt-BR"/>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noProof="0" dirty="0"/>
          </a:p>
        </p:txBody>
      </p:sp>
      <p:sp>
        <p:nvSpPr>
          <p:cNvPr id="4" name="Espaço Reservado para Número de Slide 3"/>
          <p:cNvSpPr>
            <a:spLocks noGrp="1"/>
          </p:cNvSpPr>
          <p:nvPr>
            <p:ph type="sldNum" sz="quarter" idx="5"/>
          </p:nvPr>
        </p:nvSpPr>
        <p:spPr/>
        <p:txBody>
          <a:bodyPr/>
          <a:lstStyle/>
          <a:p>
            <a:pPr rtl="0"/>
            <a:fld id="{C6B3AB32-59DF-41F1-9618-EDFBF5049629}" type="slidenum">
              <a:rPr lang="pt-BR" smtClean="0"/>
              <a:t>2</a:t>
            </a:fld>
            <a:endParaRPr lang="pt-BR"/>
          </a:p>
        </p:txBody>
      </p:sp>
    </p:spTree>
    <p:extLst>
      <p:ext uri="{BB962C8B-B14F-4D97-AF65-F5344CB8AC3E}">
        <p14:creationId xmlns:p14="http://schemas.microsoft.com/office/powerpoint/2010/main" val="13433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C7F18-684A-1CF5-2349-6006963D148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E7EA83C-F88F-476A-3021-CBA4B39812C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BD1C0DF-4F35-C3A4-16FD-5B21016EB50C}"/>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F27D3BED-8690-F450-1DF9-CB9712F42792}"/>
              </a:ext>
            </a:extLst>
          </p:cNvPr>
          <p:cNvSpPr>
            <a:spLocks noGrp="1"/>
          </p:cNvSpPr>
          <p:nvPr>
            <p:ph type="sldNum" sz="quarter" idx="5"/>
          </p:nvPr>
        </p:nvSpPr>
        <p:spPr/>
        <p:txBody>
          <a:bodyPr/>
          <a:lstStyle/>
          <a:p>
            <a:pPr rtl="0"/>
            <a:fld id="{C6B3AB32-59DF-41F1-9618-EDFBF5049629}" type="slidenum">
              <a:rPr lang="pt-BR" smtClean="0"/>
              <a:t>3</a:t>
            </a:fld>
            <a:endParaRPr lang="pt-BR"/>
          </a:p>
        </p:txBody>
      </p:sp>
    </p:spTree>
    <p:extLst>
      <p:ext uri="{BB962C8B-B14F-4D97-AF65-F5344CB8AC3E}">
        <p14:creationId xmlns:p14="http://schemas.microsoft.com/office/powerpoint/2010/main" val="3712831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A8F5E-16F7-730A-DC61-F9119566C34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27097B3-EF47-79FC-D9B7-DF335280E98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653CF79-797D-DCA0-DFFC-C54784EE66BC}"/>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93EEB155-0528-F6DE-DA8B-50CF4928D645}"/>
              </a:ext>
            </a:extLst>
          </p:cNvPr>
          <p:cNvSpPr>
            <a:spLocks noGrp="1"/>
          </p:cNvSpPr>
          <p:nvPr>
            <p:ph type="sldNum" sz="quarter" idx="5"/>
          </p:nvPr>
        </p:nvSpPr>
        <p:spPr/>
        <p:txBody>
          <a:bodyPr/>
          <a:lstStyle/>
          <a:p>
            <a:pPr rtl="0"/>
            <a:fld id="{C6B3AB32-59DF-41F1-9618-EDFBF5049629}" type="slidenum">
              <a:rPr lang="pt-BR" smtClean="0"/>
              <a:t>4</a:t>
            </a:fld>
            <a:endParaRPr lang="pt-BR"/>
          </a:p>
        </p:txBody>
      </p:sp>
    </p:spTree>
    <p:extLst>
      <p:ext uri="{BB962C8B-B14F-4D97-AF65-F5344CB8AC3E}">
        <p14:creationId xmlns:p14="http://schemas.microsoft.com/office/powerpoint/2010/main" val="3680664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9A4C9-4AF0-B24B-EF22-98D0ED282F1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45BB7F3-F1D9-63B8-B700-E5BE65EB437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F664184-10E1-522A-42B3-4EFE89EEAF44}"/>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2EFAA378-44E0-36FA-8D59-6BEE14885244}"/>
              </a:ext>
            </a:extLst>
          </p:cNvPr>
          <p:cNvSpPr>
            <a:spLocks noGrp="1"/>
          </p:cNvSpPr>
          <p:nvPr>
            <p:ph type="sldNum" sz="quarter" idx="5"/>
          </p:nvPr>
        </p:nvSpPr>
        <p:spPr/>
        <p:txBody>
          <a:bodyPr/>
          <a:lstStyle/>
          <a:p>
            <a:pPr rtl="0"/>
            <a:fld id="{C6B3AB32-59DF-41F1-9618-EDFBF5049629}" type="slidenum">
              <a:rPr lang="pt-BR" smtClean="0"/>
              <a:t>5</a:t>
            </a:fld>
            <a:endParaRPr lang="pt-BR"/>
          </a:p>
        </p:txBody>
      </p:sp>
    </p:spTree>
    <p:extLst>
      <p:ext uri="{BB962C8B-B14F-4D97-AF65-F5344CB8AC3E}">
        <p14:creationId xmlns:p14="http://schemas.microsoft.com/office/powerpoint/2010/main" val="7388442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60710-F29C-6A11-77C6-670395BBF32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3C86508-F7FD-9BA2-8791-F770BB5A420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F3CBD3D-5EA4-D295-6EEF-71AC67EED1E5}"/>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F133692E-FD67-0DC0-B79D-20A7B9239307}"/>
              </a:ext>
            </a:extLst>
          </p:cNvPr>
          <p:cNvSpPr>
            <a:spLocks noGrp="1"/>
          </p:cNvSpPr>
          <p:nvPr>
            <p:ph type="sldNum" sz="quarter" idx="5"/>
          </p:nvPr>
        </p:nvSpPr>
        <p:spPr/>
        <p:txBody>
          <a:bodyPr/>
          <a:lstStyle/>
          <a:p>
            <a:pPr rtl="0"/>
            <a:fld id="{C6B3AB32-59DF-41F1-9618-EDFBF5049629}" type="slidenum">
              <a:rPr lang="pt-BR" smtClean="0"/>
              <a:t>6</a:t>
            </a:fld>
            <a:endParaRPr lang="pt-BR"/>
          </a:p>
        </p:txBody>
      </p:sp>
    </p:spTree>
    <p:extLst>
      <p:ext uri="{BB962C8B-B14F-4D97-AF65-F5344CB8AC3E}">
        <p14:creationId xmlns:p14="http://schemas.microsoft.com/office/powerpoint/2010/main" val="4205322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48A04-9BF4-DF58-C47F-E0255309BDD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E72468E-5B28-A262-ACCB-68B76697A98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DC9BABC-D50B-C626-9213-2B6DB89161D0}"/>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10E8934A-2CC9-CF8E-5B31-BE66E133C20C}"/>
              </a:ext>
            </a:extLst>
          </p:cNvPr>
          <p:cNvSpPr>
            <a:spLocks noGrp="1"/>
          </p:cNvSpPr>
          <p:nvPr>
            <p:ph type="sldNum" sz="quarter" idx="5"/>
          </p:nvPr>
        </p:nvSpPr>
        <p:spPr/>
        <p:txBody>
          <a:bodyPr/>
          <a:lstStyle/>
          <a:p>
            <a:pPr rtl="0"/>
            <a:fld id="{C6B3AB32-59DF-41F1-9618-EDFBF5049629}" type="slidenum">
              <a:rPr lang="pt-BR" smtClean="0"/>
              <a:t>7</a:t>
            </a:fld>
            <a:endParaRPr lang="pt-BR"/>
          </a:p>
        </p:txBody>
      </p:sp>
    </p:spTree>
    <p:extLst>
      <p:ext uri="{BB962C8B-B14F-4D97-AF65-F5344CB8AC3E}">
        <p14:creationId xmlns:p14="http://schemas.microsoft.com/office/powerpoint/2010/main" val="1826469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2D310-2802-8B06-1E7E-4653E590D0D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767A3A9-984D-E203-DA60-90B48F7A727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B58B020-A31B-8D77-E313-C84299966A97}"/>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0769BB67-BE20-E3F6-8CEB-2FDB0FCC3080}"/>
              </a:ext>
            </a:extLst>
          </p:cNvPr>
          <p:cNvSpPr>
            <a:spLocks noGrp="1"/>
          </p:cNvSpPr>
          <p:nvPr>
            <p:ph type="sldNum" sz="quarter" idx="5"/>
          </p:nvPr>
        </p:nvSpPr>
        <p:spPr/>
        <p:txBody>
          <a:bodyPr/>
          <a:lstStyle/>
          <a:p>
            <a:pPr rtl="0"/>
            <a:fld id="{C6B3AB32-59DF-41F1-9618-EDFBF5049629}" type="slidenum">
              <a:rPr lang="pt-BR" smtClean="0"/>
              <a:t>8</a:t>
            </a:fld>
            <a:endParaRPr lang="pt-BR"/>
          </a:p>
        </p:txBody>
      </p:sp>
    </p:spTree>
    <p:extLst>
      <p:ext uri="{BB962C8B-B14F-4D97-AF65-F5344CB8AC3E}">
        <p14:creationId xmlns:p14="http://schemas.microsoft.com/office/powerpoint/2010/main" val="3182652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B808F-0A85-1474-C44E-1AE8360DCEB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8624AE4-E441-5281-B4FC-7BC4306FA23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FBD3A78-B0F5-C361-AD64-22F53EAACFA3}"/>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2B1B4A8B-3308-04A0-B0F1-C7BC45D93E05}"/>
              </a:ext>
            </a:extLst>
          </p:cNvPr>
          <p:cNvSpPr>
            <a:spLocks noGrp="1"/>
          </p:cNvSpPr>
          <p:nvPr>
            <p:ph type="sldNum" sz="quarter" idx="5"/>
          </p:nvPr>
        </p:nvSpPr>
        <p:spPr/>
        <p:txBody>
          <a:bodyPr/>
          <a:lstStyle/>
          <a:p>
            <a:pPr rtl="0"/>
            <a:fld id="{C6B3AB32-59DF-41F1-9618-EDFBF5049629}" type="slidenum">
              <a:rPr lang="pt-BR" smtClean="0"/>
              <a:t>9</a:t>
            </a:fld>
            <a:endParaRPr lang="pt-BR"/>
          </a:p>
        </p:txBody>
      </p:sp>
    </p:spTree>
    <p:extLst>
      <p:ext uri="{BB962C8B-B14F-4D97-AF65-F5344CB8AC3E}">
        <p14:creationId xmlns:p14="http://schemas.microsoft.com/office/powerpoint/2010/main" val="1319613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9B9CC-81B6-4B9B-4040-8E614514063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34A12B5-5A3F-EA8D-C62A-743308D01C8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B747BD4-0DA7-EE23-A344-8F0887D1DF72}"/>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DC80AA30-4DD0-BA50-1EED-0286BDE46BA4}"/>
              </a:ext>
            </a:extLst>
          </p:cNvPr>
          <p:cNvSpPr>
            <a:spLocks noGrp="1"/>
          </p:cNvSpPr>
          <p:nvPr>
            <p:ph type="sldNum" sz="quarter" idx="5"/>
          </p:nvPr>
        </p:nvSpPr>
        <p:spPr/>
        <p:txBody>
          <a:bodyPr/>
          <a:lstStyle/>
          <a:p>
            <a:pPr rtl="0"/>
            <a:fld id="{C6B3AB32-59DF-41F1-9618-EDFBF5049629}" type="slidenum">
              <a:rPr lang="pt-BR" smtClean="0"/>
              <a:t>10</a:t>
            </a:fld>
            <a:endParaRPr lang="pt-BR"/>
          </a:p>
        </p:txBody>
      </p:sp>
    </p:spTree>
    <p:extLst>
      <p:ext uri="{BB962C8B-B14F-4D97-AF65-F5344CB8AC3E}">
        <p14:creationId xmlns:p14="http://schemas.microsoft.com/office/powerpoint/2010/main" val="20388019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10B98-06B4-2039-8919-D1210AA4701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D43EB5D-BAC2-F7EC-7C1E-482A79F4B92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F37E9B2-DA31-55F5-84C2-AF6BFD304B67}"/>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80AD0353-5EBB-C25F-D401-0DE24BA8ABAF}"/>
              </a:ext>
            </a:extLst>
          </p:cNvPr>
          <p:cNvSpPr>
            <a:spLocks noGrp="1"/>
          </p:cNvSpPr>
          <p:nvPr>
            <p:ph type="sldNum" sz="quarter" idx="5"/>
          </p:nvPr>
        </p:nvSpPr>
        <p:spPr/>
        <p:txBody>
          <a:bodyPr/>
          <a:lstStyle/>
          <a:p>
            <a:pPr rtl="0"/>
            <a:fld id="{C6B3AB32-59DF-41F1-9618-EDFBF5049629}" type="slidenum">
              <a:rPr lang="pt-BR" smtClean="0"/>
              <a:t>11</a:t>
            </a:fld>
            <a:endParaRPr lang="pt-BR"/>
          </a:p>
        </p:txBody>
      </p:sp>
    </p:spTree>
    <p:extLst>
      <p:ext uri="{BB962C8B-B14F-4D97-AF65-F5344CB8AC3E}">
        <p14:creationId xmlns:p14="http://schemas.microsoft.com/office/powerpoint/2010/main" val="551490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FD990-4B35-1222-522F-42E8DD7421A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95D775A-9CEE-238C-0392-5D8F7B18DA0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5E6426A-8DCC-BB0A-2C63-3779E8C623B1}"/>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B7013484-B870-5EC7-7D59-4C52041BD133}"/>
              </a:ext>
            </a:extLst>
          </p:cNvPr>
          <p:cNvSpPr>
            <a:spLocks noGrp="1"/>
          </p:cNvSpPr>
          <p:nvPr>
            <p:ph type="sldNum" sz="quarter" idx="5"/>
          </p:nvPr>
        </p:nvSpPr>
        <p:spPr/>
        <p:txBody>
          <a:bodyPr/>
          <a:lstStyle/>
          <a:p>
            <a:pPr rtl="0"/>
            <a:fld id="{C6B3AB32-59DF-41F1-9618-EDFBF5049629}" type="slidenum">
              <a:rPr lang="pt-BR" smtClean="0"/>
              <a:t>12</a:t>
            </a:fld>
            <a:endParaRPr lang="pt-BR"/>
          </a:p>
        </p:txBody>
      </p:sp>
    </p:spTree>
    <p:extLst>
      <p:ext uri="{BB962C8B-B14F-4D97-AF65-F5344CB8AC3E}">
        <p14:creationId xmlns:p14="http://schemas.microsoft.com/office/powerpoint/2010/main" val="1934569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5F400-DAEB-F694-CE87-AAB7E921F38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BF1035F-018C-E5AC-41A0-717566254E5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BAA35F0-66A0-9770-15A3-C2E162CC1436}"/>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2986E9C8-96B2-0F05-8B9F-0D4636E3C516}"/>
              </a:ext>
            </a:extLst>
          </p:cNvPr>
          <p:cNvSpPr>
            <a:spLocks noGrp="1"/>
          </p:cNvSpPr>
          <p:nvPr>
            <p:ph type="sldNum" sz="quarter" idx="5"/>
          </p:nvPr>
        </p:nvSpPr>
        <p:spPr/>
        <p:txBody>
          <a:bodyPr/>
          <a:lstStyle/>
          <a:p>
            <a:pPr rtl="0"/>
            <a:fld id="{C6B3AB32-59DF-41F1-9618-EDFBF5049629}" type="slidenum">
              <a:rPr lang="pt-BR" smtClean="0"/>
              <a:t>13</a:t>
            </a:fld>
            <a:endParaRPr lang="pt-BR"/>
          </a:p>
        </p:txBody>
      </p:sp>
    </p:spTree>
    <p:extLst>
      <p:ext uri="{BB962C8B-B14F-4D97-AF65-F5344CB8AC3E}">
        <p14:creationId xmlns:p14="http://schemas.microsoft.com/office/powerpoint/2010/main" val="3199073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7916A-621E-335C-F3DF-DE5557B1CCE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F28B71C-38F8-9B9F-513D-86EC95BB643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BE805E0-5969-2FF0-EA74-CBB3B9717B15}"/>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1982C181-6B94-A2C2-973E-FD660E769F8F}"/>
              </a:ext>
            </a:extLst>
          </p:cNvPr>
          <p:cNvSpPr>
            <a:spLocks noGrp="1"/>
          </p:cNvSpPr>
          <p:nvPr>
            <p:ph type="sldNum" sz="quarter" idx="5"/>
          </p:nvPr>
        </p:nvSpPr>
        <p:spPr/>
        <p:txBody>
          <a:bodyPr/>
          <a:lstStyle/>
          <a:p>
            <a:pPr rtl="0"/>
            <a:fld id="{C6B3AB32-59DF-41F1-9618-EDFBF5049629}" type="slidenum">
              <a:rPr lang="pt-BR" smtClean="0"/>
              <a:t>14</a:t>
            </a:fld>
            <a:endParaRPr lang="pt-BR"/>
          </a:p>
        </p:txBody>
      </p:sp>
    </p:spTree>
    <p:extLst>
      <p:ext uri="{BB962C8B-B14F-4D97-AF65-F5344CB8AC3E}">
        <p14:creationId xmlns:p14="http://schemas.microsoft.com/office/powerpoint/2010/main" val="3974837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63DA3-7171-97B3-2DEC-2ACB3CDE0FB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D35F4C9-EA97-41E6-6389-CFA22A0EDD4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CA2F495-B34A-D66D-1057-BF8E40D3CB75}"/>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896F1051-80CB-4741-B707-57BEFDF09790}"/>
              </a:ext>
            </a:extLst>
          </p:cNvPr>
          <p:cNvSpPr>
            <a:spLocks noGrp="1"/>
          </p:cNvSpPr>
          <p:nvPr>
            <p:ph type="sldNum" sz="quarter" idx="5"/>
          </p:nvPr>
        </p:nvSpPr>
        <p:spPr/>
        <p:txBody>
          <a:bodyPr/>
          <a:lstStyle/>
          <a:p>
            <a:pPr rtl="0"/>
            <a:fld id="{C6B3AB32-59DF-41F1-9618-EDFBF5049629}" type="slidenum">
              <a:rPr lang="pt-BR" smtClean="0"/>
              <a:t>15</a:t>
            </a:fld>
            <a:endParaRPr lang="pt-BR"/>
          </a:p>
        </p:txBody>
      </p:sp>
    </p:spTree>
    <p:extLst>
      <p:ext uri="{BB962C8B-B14F-4D97-AF65-F5344CB8AC3E}">
        <p14:creationId xmlns:p14="http://schemas.microsoft.com/office/powerpoint/2010/main" val="618768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F00C-6981-93A2-5CEC-8D2C4C0DC13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E17203D-0712-F800-C358-A7CB4E83A4D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16ED371-D6AD-772D-A4C0-CED900ED1D72}"/>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98EB7A15-392D-1A1C-1F29-0A05808ED9A6}"/>
              </a:ext>
            </a:extLst>
          </p:cNvPr>
          <p:cNvSpPr>
            <a:spLocks noGrp="1"/>
          </p:cNvSpPr>
          <p:nvPr>
            <p:ph type="sldNum" sz="quarter" idx="5"/>
          </p:nvPr>
        </p:nvSpPr>
        <p:spPr/>
        <p:txBody>
          <a:bodyPr/>
          <a:lstStyle/>
          <a:p>
            <a:pPr rtl="0"/>
            <a:fld id="{C6B3AB32-59DF-41F1-9618-EDFBF5049629}" type="slidenum">
              <a:rPr lang="pt-BR" smtClean="0"/>
              <a:t>16</a:t>
            </a:fld>
            <a:endParaRPr lang="pt-BR"/>
          </a:p>
        </p:txBody>
      </p:sp>
    </p:spTree>
    <p:extLst>
      <p:ext uri="{BB962C8B-B14F-4D97-AF65-F5344CB8AC3E}">
        <p14:creationId xmlns:p14="http://schemas.microsoft.com/office/powerpoint/2010/main" val="2551641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BE0C1-47CD-6E00-8AF1-68943BC820E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3710D65-6572-650B-D110-A40F2A5B2FF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0C1F7D0-C806-B204-8D59-296CC562A225}"/>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517D0F70-20CA-04A9-73F4-06E2C802A3F7}"/>
              </a:ext>
            </a:extLst>
          </p:cNvPr>
          <p:cNvSpPr>
            <a:spLocks noGrp="1"/>
          </p:cNvSpPr>
          <p:nvPr>
            <p:ph type="sldNum" sz="quarter" idx="5"/>
          </p:nvPr>
        </p:nvSpPr>
        <p:spPr/>
        <p:txBody>
          <a:bodyPr/>
          <a:lstStyle/>
          <a:p>
            <a:pPr rtl="0"/>
            <a:fld id="{C6B3AB32-59DF-41F1-9618-EDFBF5049629}" type="slidenum">
              <a:rPr lang="pt-BR" smtClean="0"/>
              <a:t>17</a:t>
            </a:fld>
            <a:endParaRPr lang="pt-BR"/>
          </a:p>
        </p:txBody>
      </p:sp>
    </p:spTree>
    <p:extLst>
      <p:ext uri="{BB962C8B-B14F-4D97-AF65-F5344CB8AC3E}">
        <p14:creationId xmlns:p14="http://schemas.microsoft.com/office/powerpoint/2010/main" val="26109306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5B073-D80C-53A5-6F49-12E1ADF8A07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CD1EEC2-7894-5DE8-FD1D-62A19D5833B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6592843-8D7D-7267-88BB-A344B7FB193A}"/>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60908C33-4D6E-AD4A-A9EF-E3D4418DE58C}"/>
              </a:ext>
            </a:extLst>
          </p:cNvPr>
          <p:cNvSpPr>
            <a:spLocks noGrp="1"/>
          </p:cNvSpPr>
          <p:nvPr>
            <p:ph type="sldNum" sz="quarter" idx="5"/>
          </p:nvPr>
        </p:nvSpPr>
        <p:spPr/>
        <p:txBody>
          <a:bodyPr/>
          <a:lstStyle/>
          <a:p>
            <a:pPr rtl="0"/>
            <a:fld id="{C6B3AB32-59DF-41F1-9618-EDFBF5049629}" type="slidenum">
              <a:rPr lang="pt-BR" smtClean="0"/>
              <a:t>18</a:t>
            </a:fld>
            <a:endParaRPr lang="pt-BR"/>
          </a:p>
        </p:txBody>
      </p:sp>
    </p:spTree>
    <p:extLst>
      <p:ext uri="{BB962C8B-B14F-4D97-AF65-F5344CB8AC3E}">
        <p14:creationId xmlns:p14="http://schemas.microsoft.com/office/powerpoint/2010/main" val="8608825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94698-D361-F92B-569F-DD0ADCA800B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7CEA9C8-FD5B-7F1F-4130-D3D20955C25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C38FAB7-9525-B4AC-0AD8-539C82BBFE86}"/>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0BD7A644-DFAB-B48B-189E-1395C4DF1A4C}"/>
              </a:ext>
            </a:extLst>
          </p:cNvPr>
          <p:cNvSpPr>
            <a:spLocks noGrp="1"/>
          </p:cNvSpPr>
          <p:nvPr>
            <p:ph type="sldNum" sz="quarter" idx="5"/>
          </p:nvPr>
        </p:nvSpPr>
        <p:spPr/>
        <p:txBody>
          <a:bodyPr/>
          <a:lstStyle/>
          <a:p>
            <a:pPr rtl="0"/>
            <a:fld id="{C6B3AB32-59DF-41F1-9618-EDFBF5049629}" type="slidenum">
              <a:rPr lang="pt-BR" smtClean="0"/>
              <a:t>19</a:t>
            </a:fld>
            <a:endParaRPr lang="pt-BR"/>
          </a:p>
        </p:txBody>
      </p:sp>
    </p:spTree>
    <p:extLst>
      <p:ext uri="{BB962C8B-B14F-4D97-AF65-F5344CB8AC3E}">
        <p14:creationId xmlns:p14="http://schemas.microsoft.com/office/powerpoint/2010/main" val="1185657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85DA1-EBA4-6523-E6E2-A864ECFE8FF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44C7BB1-216F-036C-5489-F332703EB31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86AE829-DC41-D139-B244-AA1DEA575497}"/>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3C4A5F65-0A63-18B6-C09F-822D498514F0}"/>
              </a:ext>
            </a:extLst>
          </p:cNvPr>
          <p:cNvSpPr>
            <a:spLocks noGrp="1"/>
          </p:cNvSpPr>
          <p:nvPr>
            <p:ph type="sldNum" sz="quarter" idx="5"/>
          </p:nvPr>
        </p:nvSpPr>
        <p:spPr/>
        <p:txBody>
          <a:bodyPr/>
          <a:lstStyle/>
          <a:p>
            <a:pPr rtl="0"/>
            <a:fld id="{C6B3AB32-59DF-41F1-9618-EDFBF5049629}" type="slidenum">
              <a:rPr lang="pt-BR" smtClean="0"/>
              <a:t>20</a:t>
            </a:fld>
            <a:endParaRPr lang="pt-BR"/>
          </a:p>
        </p:txBody>
      </p:sp>
    </p:spTree>
    <p:extLst>
      <p:ext uri="{BB962C8B-B14F-4D97-AF65-F5344CB8AC3E}">
        <p14:creationId xmlns:p14="http://schemas.microsoft.com/office/powerpoint/2010/main" val="20331889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63A6A-25CE-0844-D136-A5389FD2C97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713F509-A84E-A49B-16FC-E372C3E239D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11087B1-7EC6-D520-B813-B39ED7110573}"/>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EC0CF0E4-67C6-4B1F-D67A-BE6C79E356B7}"/>
              </a:ext>
            </a:extLst>
          </p:cNvPr>
          <p:cNvSpPr>
            <a:spLocks noGrp="1"/>
          </p:cNvSpPr>
          <p:nvPr>
            <p:ph type="sldNum" sz="quarter" idx="5"/>
          </p:nvPr>
        </p:nvSpPr>
        <p:spPr/>
        <p:txBody>
          <a:bodyPr/>
          <a:lstStyle/>
          <a:p>
            <a:pPr rtl="0"/>
            <a:fld id="{C6B3AB32-59DF-41F1-9618-EDFBF5049629}" type="slidenum">
              <a:rPr lang="pt-BR" smtClean="0"/>
              <a:t>21</a:t>
            </a:fld>
            <a:endParaRPr lang="pt-BR"/>
          </a:p>
        </p:txBody>
      </p:sp>
    </p:spTree>
    <p:extLst>
      <p:ext uri="{BB962C8B-B14F-4D97-AF65-F5344CB8AC3E}">
        <p14:creationId xmlns:p14="http://schemas.microsoft.com/office/powerpoint/2010/main" val="39123825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pt-BR" noProof="0" dirty="0"/>
          </a:p>
        </p:txBody>
      </p:sp>
      <p:sp>
        <p:nvSpPr>
          <p:cNvPr id="4" name="Espaço Reservado para o Número do Slide 3"/>
          <p:cNvSpPr>
            <a:spLocks noGrp="1"/>
          </p:cNvSpPr>
          <p:nvPr>
            <p:ph type="sldNum" sz="quarter" idx="5"/>
          </p:nvPr>
        </p:nvSpPr>
        <p:spPr/>
        <p:txBody>
          <a:bodyPr rtlCol="0"/>
          <a:lstStyle/>
          <a:p>
            <a:pPr rtl="0"/>
            <a:fld id="{C6B3AB32-59DF-41F1-9618-EDFBF5049629}" type="slidenum">
              <a:rPr lang="pt-BR" smtClean="0"/>
              <a:t>22</a:t>
            </a:fld>
            <a:endParaRPr lang="pt-BR"/>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7" name="Retângulo 6"/>
          <p:cNvSpPr/>
          <p:nvPr userDrawn="1"/>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ctrTitle" hasCustomPrompt="1"/>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pt-BR" noProof="0"/>
              <a:t>Clique para editar o estilo de título Mestre</a:t>
            </a:r>
          </a:p>
        </p:txBody>
      </p:sp>
      <p:sp>
        <p:nvSpPr>
          <p:cNvPr id="3" name="Subtítulo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pt-BR" noProof="0"/>
              <a:t>Clique para editar o estilo de subtítulo Mestre</a:t>
            </a:r>
          </a:p>
        </p:txBody>
      </p:sp>
      <p:sp>
        <p:nvSpPr>
          <p:cNvPr id="4" name="Espaço Reservado para Data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2AF5B136-74F1-42D3-987D-A097EEF8F2FE}" type="datetime1">
              <a:rPr lang="pt-BR" noProof="0" smtClean="0"/>
              <a:t>24/05/2025</a:t>
            </a:fld>
            <a:endParaRPr lang="pt-BR" noProof="0"/>
          </a:p>
        </p:txBody>
      </p:sp>
      <p:sp>
        <p:nvSpPr>
          <p:cNvPr id="5" name="Espaço Reservado para Rodapé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pt-BR" noProof="0"/>
          </a:p>
        </p:txBody>
      </p:sp>
      <p:sp>
        <p:nvSpPr>
          <p:cNvPr id="6" name="Espaço Reservado para o Número do Slide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7" name="Retângulo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2" y="702156"/>
            <a:ext cx="11029616" cy="1013800"/>
          </a:xfrm>
        </p:spPr>
        <p:txBody>
          <a:bodyPr rtlCol="0"/>
          <a:lstStyle/>
          <a:p>
            <a:pPr rtl="0"/>
            <a:r>
              <a:rPr lang="pt-BR" noProof="0"/>
              <a:t>Clique para editar o estilo de título Mestre</a:t>
            </a:r>
          </a:p>
        </p:txBody>
      </p:sp>
      <p:sp>
        <p:nvSpPr>
          <p:cNvPr id="3" name="Espaço Reservado para Conteúdo 2"/>
          <p:cNvSpPr>
            <a:spLocks noGrp="1"/>
          </p:cNvSpPr>
          <p:nvPr>
            <p:ph idx="1" hasCustomPrompt="1"/>
          </p:nvPr>
        </p:nvSpPr>
        <p:spPr>
          <a:xfrm>
            <a:off x="581192" y="2180496"/>
            <a:ext cx="11029615" cy="3678303"/>
          </a:xfrm>
        </p:spPr>
        <p:txBody>
          <a:bodyPr rtlCol="0"/>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B04AF3F4-81C7-4F15-8991-6D0E8D06651A}" type="datetime1">
              <a:rPr lang="pt-BR" noProof="0" smtClean="0"/>
              <a:t>24/05/2025</a:t>
            </a:fld>
            <a:endParaRPr lang="pt-BR" noProof="0"/>
          </a:p>
        </p:txBody>
      </p:sp>
      <p:sp>
        <p:nvSpPr>
          <p:cNvPr id="5" name="Espaço Reservado para Rodapé 4"/>
          <p:cNvSpPr>
            <a:spLocks noGrp="1"/>
          </p:cNvSpPr>
          <p:nvPr>
            <p:ph type="ftr" sz="quarter" idx="11"/>
          </p:nvPr>
        </p:nvSpPr>
        <p:spPr/>
        <p:txBody>
          <a:bodyPr rtlCol="0"/>
          <a:lstStyle/>
          <a:p>
            <a:pPr rtl="0"/>
            <a:endParaRPr lang="pt-BR" noProof="0"/>
          </a:p>
        </p:txBody>
      </p:sp>
      <p:sp>
        <p:nvSpPr>
          <p:cNvPr id="6" name="Espaço Reservado para o Número do Slide 5"/>
          <p:cNvSpPr>
            <a:spLocks noGrp="1"/>
          </p:cNvSpPr>
          <p:nvPr>
            <p:ph type="sldNum" sz="quarter" idx="12"/>
          </p:nvPr>
        </p:nvSpPr>
        <p:spPr>
          <a:xfrm>
            <a:off x="10558300" y="5956137"/>
            <a:ext cx="1052508" cy="365125"/>
          </a:xfrm>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8" name="Retângulo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pt-BR" noProof="0"/>
              <a:t>Clique para editar o estilo de título Mestre</a:t>
            </a:r>
          </a:p>
        </p:txBody>
      </p:sp>
      <p:sp>
        <p:nvSpPr>
          <p:cNvPr id="3" name="Espaço Reservado para Texto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pt-BR" noProof="0"/>
              <a:t>Editar estilos de texto Mestre</a:t>
            </a:r>
          </a:p>
        </p:txBody>
      </p:sp>
      <p:sp>
        <p:nvSpPr>
          <p:cNvPr id="4" name="Espaço Reservado para Data 3"/>
          <p:cNvSpPr>
            <a:spLocks noGrp="1"/>
          </p:cNvSpPr>
          <p:nvPr>
            <p:ph type="dt" sz="half" idx="10"/>
          </p:nvPr>
        </p:nvSpPr>
        <p:spPr/>
        <p:txBody>
          <a:bodyPr rtlCol="0"/>
          <a:lstStyle>
            <a:lvl1pPr>
              <a:defRPr>
                <a:solidFill>
                  <a:schemeClr val="accent1">
                    <a:lumMod val="75000"/>
                    <a:lumOff val="25000"/>
                  </a:schemeClr>
                </a:solidFill>
              </a:defRPr>
            </a:lvl1pPr>
          </a:lstStyle>
          <a:p>
            <a:pPr rtl="0"/>
            <a:fld id="{6E2946E4-8964-43BF-B1D5-4261B83248E5}" type="datetime1">
              <a:rPr lang="pt-BR" noProof="0" smtClean="0"/>
              <a:t>24/05/2025</a:t>
            </a:fld>
            <a:endParaRPr lang="pt-BR" noProof="0"/>
          </a:p>
        </p:txBody>
      </p:sp>
      <p:sp>
        <p:nvSpPr>
          <p:cNvPr id="5" name="Espaço Reservado para Rodapé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pt-BR" noProof="0"/>
          </a:p>
        </p:txBody>
      </p:sp>
      <p:sp>
        <p:nvSpPr>
          <p:cNvPr id="6" name="Espaço Reservado para o Número do Slide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is conteúdos">
    <p:spTree>
      <p:nvGrpSpPr>
        <p:cNvPr id="1" name=""/>
        <p:cNvGrpSpPr/>
        <p:nvPr/>
      </p:nvGrpSpPr>
      <p:grpSpPr>
        <a:xfrm>
          <a:off x="0" y="0"/>
          <a:ext cx="0" cy="0"/>
          <a:chOff x="0" y="0"/>
          <a:chExt cx="0" cy="0"/>
        </a:xfrm>
      </p:grpSpPr>
      <p:sp>
        <p:nvSpPr>
          <p:cNvPr id="8" name="Retângulo 7"/>
          <p:cNvSpPr>
            <a:spLocks noChangeAspect="1"/>
          </p:cNvSpPr>
          <p:nvPr/>
        </p:nvSpPr>
        <p:spPr>
          <a:xfrm>
            <a:off x="445982" y="606555"/>
            <a:ext cx="11300036" cy="668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3" y="729658"/>
            <a:ext cx="11029616" cy="988332"/>
          </a:xfrm>
        </p:spPr>
        <p:txBody>
          <a:bodyPr rtlCol="0"/>
          <a:lstStyle/>
          <a:p>
            <a:pPr rtl="0"/>
            <a:r>
              <a:rPr lang="pt-BR" noProof="0"/>
              <a:t>Clique para editar o estilo de título Mestre</a:t>
            </a:r>
          </a:p>
        </p:txBody>
      </p:sp>
      <p:sp>
        <p:nvSpPr>
          <p:cNvPr id="3" name="Espaço Reservado para Conteúdo 2"/>
          <p:cNvSpPr>
            <a:spLocks noGrp="1"/>
          </p:cNvSpPr>
          <p:nvPr>
            <p:ph sz="half" idx="1" hasCustomPrompt="1"/>
          </p:nvPr>
        </p:nvSpPr>
        <p:spPr>
          <a:xfrm>
            <a:off x="581193" y="2228003"/>
            <a:ext cx="5422390" cy="3633047"/>
          </a:xfrm>
        </p:spPr>
        <p:txBody>
          <a:bodyPr rtlCol="0">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Conteúdo 3"/>
          <p:cNvSpPr>
            <a:spLocks noGrp="1"/>
          </p:cNvSpPr>
          <p:nvPr>
            <p:ph sz="half" idx="2" hasCustomPrompt="1"/>
          </p:nvPr>
        </p:nvSpPr>
        <p:spPr>
          <a:xfrm>
            <a:off x="6188417" y="2228003"/>
            <a:ext cx="5422392" cy="3633047"/>
          </a:xfrm>
        </p:spPr>
        <p:txBody>
          <a:bodyPr rtlCol="0">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5" name="Espaço Reservado para Data 4"/>
          <p:cNvSpPr>
            <a:spLocks noGrp="1"/>
          </p:cNvSpPr>
          <p:nvPr>
            <p:ph type="dt" sz="half" idx="10"/>
          </p:nvPr>
        </p:nvSpPr>
        <p:spPr/>
        <p:txBody>
          <a:bodyPr rtlCol="0"/>
          <a:lstStyle/>
          <a:p>
            <a:pPr rtl="0"/>
            <a:fld id="{97C9F420-083C-437A-9265-7F13EB97C6A2}" type="datetime1">
              <a:rPr lang="pt-BR" noProof="0" smtClean="0"/>
              <a:t>24/05/2025</a:t>
            </a:fld>
            <a:endParaRPr lang="pt-BR" noProof="0"/>
          </a:p>
        </p:txBody>
      </p:sp>
      <p:sp>
        <p:nvSpPr>
          <p:cNvPr id="6" name="Espaço Reservado para Rodapé 5"/>
          <p:cNvSpPr>
            <a:spLocks noGrp="1"/>
          </p:cNvSpPr>
          <p:nvPr>
            <p:ph type="ftr" sz="quarter" idx="11"/>
          </p:nvPr>
        </p:nvSpPr>
        <p:spPr/>
        <p:txBody>
          <a:bodyPr rtlCol="0"/>
          <a:lstStyle/>
          <a:p>
            <a:pPr rtl="0"/>
            <a:endParaRPr lang="pt-BR" noProof="0"/>
          </a:p>
        </p:txBody>
      </p:sp>
      <p:sp>
        <p:nvSpPr>
          <p:cNvPr id="7" name="Espaço Reservado para o Número do Slide 6"/>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1" name="Retângulo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ítulo 1"/>
          <p:cNvSpPr>
            <a:spLocks noGrp="1"/>
          </p:cNvSpPr>
          <p:nvPr>
            <p:ph type="title" hasCustomPrompt="1"/>
          </p:nvPr>
        </p:nvSpPr>
        <p:spPr>
          <a:xfrm>
            <a:off x="581193" y="729658"/>
            <a:ext cx="11029616" cy="988332"/>
          </a:xfrm>
        </p:spPr>
        <p:txBody>
          <a:bodyPr rtlCol="0"/>
          <a:lstStyle/>
          <a:p>
            <a:pPr rtl="0"/>
            <a:r>
              <a:rPr lang="pt-BR" noProof="0"/>
              <a:t>Clique para editar o estilo de título Mestre</a:t>
            </a:r>
          </a:p>
        </p:txBody>
      </p:sp>
      <p:sp>
        <p:nvSpPr>
          <p:cNvPr id="3" name="Espaço Reservado para Texto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Editar estilos de texto Mestre</a:t>
            </a:r>
          </a:p>
        </p:txBody>
      </p:sp>
      <p:sp>
        <p:nvSpPr>
          <p:cNvPr id="4" name="Espaço Reservado para Conteúdo 3"/>
          <p:cNvSpPr>
            <a:spLocks noGrp="1"/>
          </p:cNvSpPr>
          <p:nvPr>
            <p:ph sz="half" idx="2" hasCustomPrompt="1"/>
          </p:nvPr>
        </p:nvSpPr>
        <p:spPr>
          <a:xfrm>
            <a:off x="581194" y="2926052"/>
            <a:ext cx="5393100" cy="2934999"/>
          </a:xfrm>
        </p:spPr>
        <p:txBody>
          <a:bodyPr rtlCol="0" anchor="t">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5" name="Espaço Reservado para Texto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Editar estilos de texto Mestre</a:t>
            </a:r>
          </a:p>
        </p:txBody>
      </p:sp>
      <p:sp>
        <p:nvSpPr>
          <p:cNvPr id="6" name="Espaço Reservado para Conteúdo 5"/>
          <p:cNvSpPr>
            <a:spLocks noGrp="1"/>
          </p:cNvSpPr>
          <p:nvPr>
            <p:ph sz="quarter" idx="4" hasCustomPrompt="1"/>
          </p:nvPr>
        </p:nvSpPr>
        <p:spPr>
          <a:xfrm>
            <a:off x="6217709" y="2926052"/>
            <a:ext cx="5393100" cy="2934999"/>
          </a:xfrm>
        </p:spPr>
        <p:txBody>
          <a:bodyPr rtlCol="0" anchor="t">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7" name="Espaço Reservado para Data 6"/>
          <p:cNvSpPr>
            <a:spLocks noGrp="1"/>
          </p:cNvSpPr>
          <p:nvPr>
            <p:ph type="dt" sz="half" idx="10"/>
          </p:nvPr>
        </p:nvSpPr>
        <p:spPr/>
        <p:txBody>
          <a:bodyPr rtlCol="0"/>
          <a:lstStyle/>
          <a:p>
            <a:pPr rtl="0"/>
            <a:fld id="{BE07AF20-ED70-4B21-B799-75BB5818AB43}" type="datetime1">
              <a:rPr lang="pt-BR" noProof="0" smtClean="0"/>
              <a:t>24/05/2025</a:t>
            </a:fld>
            <a:endParaRPr lang="pt-BR" noProof="0"/>
          </a:p>
        </p:txBody>
      </p:sp>
      <p:sp>
        <p:nvSpPr>
          <p:cNvPr id="8" name="Espaço Reservado para Rodapé 7"/>
          <p:cNvSpPr>
            <a:spLocks noGrp="1"/>
          </p:cNvSpPr>
          <p:nvPr>
            <p:ph type="ftr" sz="quarter" idx="11"/>
          </p:nvPr>
        </p:nvSpPr>
        <p:spPr/>
        <p:txBody>
          <a:bodyPr rtlCol="0"/>
          <a:lstStyle/>
          <a:p>
            <a:pPr rtl="0"/>
            <a:endParaRPr lang="pt-BR" noProof="0"/>
          </a:p>
        </p:txBody>
      </p:sp>
      <p:sp>
        <p:nvSpPr>
          <p:cNvPr id="9" name="Espaço Reservado para o Número do Slide 8"/>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3" name="Espaço Reservado para Data 2"/>
          <p:cNvSpPr>
            <a:spLocks noGrp="1"/>
          </p:cNvSpPr>
          <p:nvPr>
            <p:ph type="dt" sz="half" idx="10"/>
          </p:nvPr>
        </p:nvSpPr>
        <p:spPr/>
        <p:txBody>
          <a:bodyPr rtlCol="0"/>
          <a:lstStyle/>
          <a:p>
            <a:pPr rtl="0"/>
            <a:fld id="{0D33D876-8C34-42FC-BFF7-457557B97BB7}" type="datetime1">
              <a:rPr lang="pt-BR" noProof="0" smtClean="0"/>
              <a:t>24/05/2025</a:t>
            </a:fld>
            <a:endParaRPr lang="pt-BR" noProof="0"/>
          </a:p>
        </p:txBody>
      </p:sp>
      <p:sp>
        <p:nvSpPr>
          <p:cNvPr id="4" name="Espaço Reservado para Rodapé 3"/>
          <p:cNvSpPr>
            <a:spLocks noGrp="1"/>
          </p:cNvSpPr>
          <p:nvPr>
            <p:ph type="ftr" sz="quarter" idx="11"/>
          </p:nvPr>
        </p:nvSpPr>
        <p:spPr/>
        <p:txBody>
          <a:bodyPr rtlCol="0"/>
          <a:lstStyle/>
          <a:p>
            <a:pPr rtl="0"/>
            <a:endParaRPr lang="pt-BR" noProof="0"/>
          </a:p>
        </p:txBody>
      </p:sp>
      <p:sp>
        <p:nvSpPr>
          <p:cNvPr id="5" name="Espaço Reservado para o Número do Slide 4"/>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
        <p:nvSpPr>
          <p:cNvPr id="7" name="Retângulo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ítulo 1"/>
          <p:cNvSpPr>
            <a:spLocks noGrp="1"/>
          </p:cNvSpPr>
          <p:nvPr>
            <p:ph type="title" hasCustomPrompt="1"/>
          </p:nvPr>
        </p:nvSpPr>
        <p:spPr>
          <a:xfrm>
            <a:off x="575894" y="729658"/>
            <a:ext cx="11029616" cy="988332"/>
          </a:xfrm>
        </p:spPr>
        <p:txBody>
          <a:bodyPr rtlCol="0"/>
          <a:lstStyle/>
          <a:p>
            <a:pPr rtl="0"/>
            <a:r>
              <a:rPr lang="pt-BR" noProof="0"/>
              <a:t>Clique para editar o estilo de título Mestre</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rtlCol="0"/>
          <a:lstStyle/>
          <a:p>
            <a:pPr rtl="0"/>
            <a:fld id="{4592437E-206F-4A1C-947F-806A50A40B88}" type="datetime1">
              <a:rPr lang="pt-BR" noProof="0" smtClean="0"/>
              <a:t>24/05/2025</a:t>
            </a:fld>
            <a:endParaRPr lang="pt-BR" noProof="0"/>
          </a:p>
        </p:txBody>
      </p:sp>
      <p:sp>
        <p:nvSpPr>
          <p:cNvPr id="3" name="Espaço Reservado para Rodapé 2"/>
          <p:cNvSpPr>
            <a:spLocks noGrp="1"/>
          </p:cNvSpPr>
          <p:nvPr>
            <p:ph type="ftr" sz="quarter" idx="11"/>
          </p:nvPr>
        </p:nvSpPr>
        <p:spPr/>
        <p:txBody>
          <a:bodyPr rtlCol="0"/>
          <a:lstStyle/>
          <a:p>
            <a:pPr rtl="0"/>
            <a:endParaRPr lang="pt-BR" noProof="0"/>
          </a:p>
        </p:txBody>
      </p:sp>
      <p:sp>
        <p:nvSpPr>
          <p:cNvPr id="4" name="Espaço Reservado para o Número do Slide 3"/>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9" name="Retângulo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pt-BR" noProof="0"/>
              <a:t>Clique para editar o estilo de título Mestre</a:t>
            </a:r>
          </a:p>
        </p:txBody>
      </p:sp>
      <p:sp>
        <p:nvSpPr>
          <p:cNvPr id="3" name="Espaço Reservado para Conteúdo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Texto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a:t>Editar estilos de texto Mestre</a:t>
            </a:r>
          </a:p>
        </p:txBody>
      </p:sp>
      <p:sp>
        <p:nvSpPr>
          <p:cNvPr id="5" name="Espaço Reservado para Data 4"/>
          <p:cNvSpPr>
            <a:spLocks noGrp="1"/>
          </p:cNvSpPr>
          <p:nvPr>
            <p:ph type="dt" sz="half" idx="10"/>
          </p:nvPr>
        </p:nvSpPr>
        <p:spPr/>
        <p:txBody>
          <a:bodyPr rtlCol="0"/>
          <a:lstStyle>
            <a:lvl1pPr>
              <a:defRPr>
                <a:solidFill>
                  <a:schemeClr val="accent1">
                    <a:lumMod val="75000"/>
                    <a:lumOff val="25000"/>
                  </a:schemeClr>
                </a:solidFill>
              </a:defRPr>
            </a:lvl1pPr>
          </a:lstStyle>
          <a:p>
            <a:pPr rtl="0"/>
            <a:fld id="{B036DDBC-F1EF-4D09-A533-5995BC167053}" type="datetime1">
              <a:rPr lang="pt-BR" noProof="0" smtClean="0"/>
              <a:t>24/05/2025</a:t>
            </a:fld>
            <a:endParaRPr lang="pt-BR" noProof="0"/>
          </a:p>
        </p:txBody>
      </p:sp>
      <p:sp>
        <p:nvSpPr>
          <p:cNvPr id="6" name="Espaço Reservado para Rodapé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pt-BR" noProof="0"/>
          </a:p>
        </p:txBody>
      </p:sp>
      <p:sp>
        <p:nvSpPr>
          <p:cNvPr id="7" name="Espaço Reservado para o Número do Slide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581193" y="4693389"/>
            <a:ext cx="11029616" cy="566738"/>
          </a:xfrm>
        </p:spPr>
        <p:txBody>
          <a:bodyPr rtlCol="0" anchor="b">
            <a:normAutofit/>
          </a:bodyPr>
          <a:lstStyle>
            <a:lvl1pPr algn="l">
              <a:defRPr sz="2400" b="0">
                <a:solidFill>
                  <a:schemeClr val="accent1"/>
                </a:solidFill>
              </a:defRPr>
            </a:lvl1pPr>
          </a:lstStyle>
          <a:p>
            <a:pPr rtl="0"/>
            <a:r>
              <a:rPr lang="pt-BR" noProof="0"/>
              <a:t>Clique para editar o estilo de título Mestre</a:t>
            </a:r>
          </a:p>
        </p:txBody>
      </p:sp>
      <p:sp>
        <p:nvSpPr>
          <p:cNvPr id="3" name="Espaço Reservado para Imagem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pt-BR" noProof="0"/>
              <a:t>Clique no ícone para adicionar uma imagem</a:t>
            </a:r>
          </a:p>
        </p:txBody>
      </p:sp>
      <p:sp>
        <p:nvSpPr>
          <p:cNvPr id="4" name="Espaço Reservado para Texto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a:t>Editar estilos de texto Mestre</a:t>
            </a:r>
          </a:p>
        </p:txBody>
      </p:sp>
      <p:sp>
        <p:nvSpPr>
          <p:cNvPr id="5" name="Espaço Reservado para Data 4"/>
          <p:cNvSpPr>
            <a:spLocks noGrp="1"/>
          </p:cNvSpPr>
          <p:nvPr>
            <p:ph type="dt" sz="half" idx="10"/>
          </p:nvPr>
        </p:nvSpPr>
        <p:spPr/>
        <p:txBody>
          <a:bodyPr rtlCol="0"/>
          <a:lstStyle/>
          <a:p>
            <a:pPr rtl="0"/>
            <a:fld id="{DFFDDC01-A1CF-4C3A-BE96-FBC60101324D}" type="datetime1">
              <a:rPr lang="pt-BR" noProof="0" smtClean="0"/>
              <a:t>24/05/2025</a:t>
            </a:fld>
            <a:endParaRPr lang="pt-BR" noProof="0"/>
          </a:p>
        </p:txBody>
      </p:sp>
      <p:sp>
        <p:nvSpPr>
          <p:cNvPr id="6" name="Espaço Reservado para Rodapé 5"/>
          <p:cNvSpPr>
            <a:spLocks noGrp="1"/>
          </p:cNvSpPr>
          <p:nvPr>
            <p:ph type="ftr" sz="quarter" idx="11"/>
          </p:nvPr>
        </p:nvSpPr>
        <p:spPr/>
        <p:txBody>
          <a:bodyPr rtlCol="0"/>
          <a:lstStyle/>
          <a:p>
            <a:pPr rtl="0"/>
            <a:endParaRPr lang="pt-BR" noProof="0"/>
          </a:p>
        </p:txBody>
      </p:sp>
      <p:sp>
        <p:nvSpPr>
          <p:cNvPr id="7" name="Espaço Reservado para o Número do Slide 6"/>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8" name="Retângulo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ítulo 1"/>
          <p:cNvSpPr>
            <a:spLocks noGrp="1"/>
          </p:cNvSpPr>
          <p:nvPr>
            <p:ph type="title" hasCustomPrompt="1"/>
          </p:nvPr>
        </p:nvSpPr>
        <p:spPr>
          <a:xfrm>
            <a:off x="581192" y="702156"/>
            <a:ext cx="11029616" cy="1013800"/>
          </a:xfrm>
        </p:spPr>
        <p:txBody>
          <a:bodyPr rtlCol="0"/>
          <a:lstStyle/>
          <a:p>
            <a:pPr rtl="0"/>
            <a:r>
              <a:rPr lang="pt-BR" noProof="0"/>
              <a:t>Clique para editar o estilo de título Mestre</a:t>
            </a:r>
          </a:p>
        </p:txBody>
      </p:sp>
      <p:sp>
        <p:nvSpPr>
          <p:cNvPr id="3" name="Espaço Reservado para Texto Vertical 2"/>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0229B074-15EB-43FB-8347-3A734D799093}" type="datetime1">
              <a:rPr lang="pt-BR" noProof="0" smtClean="0"/>
              <a:t>24/05/2025</a:t>
            </a:fld>
            <a:endParaRPr lang="pt-BR" noProof="0"/>
          </a:p>
        </p:txBody>
      </p:sp>
      <p:sp>
        <p:nvSpPr>
          <p:cNvPr id="5" name="Espaço Reservado para Rodapé 4"/>
          <p:cNvSpPr>
            <a:spLocks noGrp="1"/>
          </p:cNvSpPr>
          <p:nvPr>
            <p:ph type="ftr" sz="quarter" idx="11"/>
          </p:nvPr>
        </p:nvSpPr>
        <p:spPr/>
        <p:txBody>
          <a:bodyPr rtlCol="0"/>
          <a:lstStyle/>
          <a:p>
            <a:pPr rtl="0"/>
            <a:endParaRPr lang="pt-BR" noProof="0"/>
          </a:p>
        </p:txBody>
      </p:sp>
      <p:sp>
        <p:nvSpPr>
          <p:cNvPr id="6" name="Espaço Reservado para o Número do Slide 5"/>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7" name="Retângulo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Vertical 1"/>
          <p:cNvSpPr>
            <a:spLocks noGrp="1"/>
          </p:cNvSpPr>
          <p:nvPr>
            <p:ph type="title" orient="vert" hasCustomPrompt="1"/>
          </p:nvPr>
        </p:nvSpPr>
        <p:spPr>
          <a:xfrm>
            <a:off x="8839201" y="675726"/>
            <a:ext cx="2004164" cy="5183073"/>
          </a:xfrm>
        </p:spPr>
        <p:txBody>
          <a:bodyPr vert="eaVert" rtlCol="0"/>
          <a:lstStyle/>
          <a:p>
            <a:pPr rtl="0"/>
            <a:r>
              <a:rPr lang="pt-BR" noProof="0"/>
              <a:t>Clique para editar o estilo de título Mestre</a:t>
            </a:r>
          </a:p>
        </p:txBody>
      </p:sp>
      <p:sp>
        <p:nvSpPr>
          <p:cNvPr id="3" name="Espaço Reservado para Texto Vertical 2"/>
          <p:cNvSpPr>
            <a:spLocks noGrp="1"/>
          </p:cNvSpPr>
          <p:nvPr>
            <p:ph type="body" orient="vert" idx="1" hasCustomPrompt="1"/>
          </p:nvPr>
        </p:nvSpPr>
        <p:spPr>
          <a:xfrm>
            <a:off x="774923" y="675726"/>
            <a:ext cx="7896279" cy="5183073"/>
          </a:xfrm>
        </p:spPr>
        <p:txBody>
          <a:bodyPr vert="eaVert" rtlCol="0" anchor="t"/>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036303E3-8DE9-4C2D-91EE-6F377AE582A8}" type="datetime1">
              <a:rPr lang="pt-BR" noProof="0" smtClean="0"/>
              <a:t>24/05/2025</a:t>
            </a:fld>
            <a:endParaRPr lang="pt-BR" noProof="0"/>
          </a:p>
        </p:txBody>
      </p:sp>
      <p:sp>
        <p:nvSpPr>
          <p:cNvPr id="5" name="Espaço Reservado para Rodapé 4"/>
          <p:cNvSpPr>
            <a:spLocks noGrp="1"/>
          </p:cNvSpPr>
          <p:nvPr>
            <p:ph type="ftr" sz="quarter" idx="11"/>
          </p:nvPr>
        </p:nvSpPr>
        <p:spPr>
          <a:xfrm>
            <a:off x="774923" y="5951811"/>
            <a:ext cx="7896279" cy="365125"/>
          </a:xfrm>
        </p:spPr>
        <p:txBody>
          <a:bodyPr rtlCol="0"/>
          <a:lstStyle/>
          <a:p>
            <a:pPr rtl="0"/>
            <a:endParaRPr lang="pt-BR" noProof="0"/>
          </a:p>
        </p:txBody>
      </p:sp>
      <p:sp>
        <p:nvSpPr>
          <p:cNvPr id="6" name="Espaço Reservado para o Número do Slide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pt-BR" noProof="0"/>
              <a:t>Clique para editar o estilo de título Mestre</a:t>
            </a:r>
          </a:p>
        </p:txBody>
      </p:sp>
      <p:sp>
        <p:nvSpPr>
          <p:cNvPr id="3" name="Espaço Reservado para Texto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52266794-2CD5-4ED3-94F8-8B8DC65FDDE3}" type="datetime1">
              <a:rPr lang="pt-BR" noProof="0" smtClean="0"/>
              <a:t>24/05/2025</a:t>
            </a:fld>
            <a:endParaRPr lang="pt-BR" noProof="0"/>
          </a:p>
        </p:txBody>
      </p:sp>
      <p:sp>
        <p:nvSpPr>
          <p:cNvPr id="5" name="Espaço Reservado para Rodapé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pt-BR" noProof="0"/>
          </a:p>
        </p:txBody>
      </p:sp>
      <p:sp>
        <p:nvSpPr>
          <p:cNvPr id="6" name="Espaço Reservado para o Número do Slide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pt-BR" noProof="0" smtClean="0"/>
              <a:pPr rtl="0"/>
              <a:t>‹nº›</a:t>
            </a:fld>
            <a:endParaRPr lang="pt-BR" noProof="0"/>
          </a:p>
        </p:txBody>
      </p:sp>
      <p:sp>
        <p:nvSpPr>
          <p:cNvPr id="9" name="Retângulo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tângulo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tângulo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github.com/irven-xavier" TargetMode="External"/><Relationship Id="rId5" Type="http://schemas.openxmlformats.org/officeDocument/2006/relationships/hyperlink" Target="https://www.linkedin.com/in/irven-xavier/" TargetMode="External"/><Relationship Id="rId4" Type="http://schemas.openxmlformats.org/officeDocument/2006/relationships/hyperlink" Target="mailto:irven.xavier@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tângulo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pic>
        <p:nvPicPr>
          <p:cNvPr id="4" name="Espaço Reservado para Conteúdo 4" descr="Números Digitais">
            <a:extLst>
              <a:ext uri="{FF2B5EF4-FFF2-40B4-BE49-F238E27FC236}">
                <a16:creationId xmlns:a16="http://schemas.microsoft.com/office/drawing/2014/main" id="{EDACC123-1DFC-E524-73B0-043AF33B371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7" name="Grupo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tângulo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9" name="Retângulo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0" name="Retângulo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grpSp>
      <p:sp>
        <p:nvSpPr>
          <p:cNvPr id="22" name="Retângulo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Título 1">
            <a:extLst>
              <a:ext uri="{FF2B5EF4-FFF2-40B4-BE49-F238E27FC236}">
                <a16:creationId xmlns:a16="http://schemas.microsoft.com/office/drawing/2014/main" id="{C02C5318-1A1E-49D0-B2E2-A4B0FA9E8A40}"/>
              </a:ext>
            </a:extLst>
          </p:cNvPr>
          <p:cNvSpPr>
            <a:spLocks noGrp="1"/>
          </p:cNvSpPr>
          <p:nvPr>
            <p:ph type="ctrTitle"/>
          </p:nvPr>
        </p:nvSpPr>
        <p:spPr>
          <a:xfrm>
            <a:off x="482601" y="4687219"/>
            <a:ext cx="10993549" cy="685179"/>
          </a:xfrm>
        </p:spPr>
        <p:txBody>
          <a:bodyPr rtlCol="0">
            <a:noAutofit/>
          </a:bodyPr>
          <a:lstStyle/>
          <a:p>
            <a:pPr algn="ctr" rtl="0"/>
            <a:r>
              <a:rPr lang="pt-BR" sz="3200" dirty="0">
                <a:solidFill>
                  <a:schemeClr val="bg1"/>
                </a:solidFill>
              </a:rPr>
              <a:t>Análise das Top 50 empresas da NYSE e NASDAQ</a:t>
            </a:r>
          </a:p>
        </p:txBody>
      </p:sp>
      <p:sp>
        <p:nvSpPr>
          <p:cNvPr id="3" name="Subtítulo 2">
            <a:extLst>
              <a:ext uri="{FF2B5EF4-FFF2-40B4-BE49-F238E27FC236}">
                <a16:creationId xmlns:a16="http://schemas.microsoft.com/office/drawing/2014/main" id="{48B6CF59-4E5B-494D-A2F7-97ADD01E6497}"/>
              </a:ext>
            </a:extLst>
          </p:cNvPr>
          <p:cNvSpPr>
            <a:spLocks noGrp="1"/>
          </p:cNvSpPr>
          <p:nvPr>
            <p:ph type="subTitle" idx="1"/>
          </p:nvPr>
        </p:nvSpPr>
        <p:spPr>
          <a:xfrm>
            <a:off x="482604" y="5528013"/>
            <a:ext cx="10993546" cy="484822"/>
          </a:xfrm>
        </p:spPr>
        <p:txBody>
          <a:bodyPr rtlCol="0">
            <a:normAutofit fontScale="25000" lnSpcReduction="20000"/>
          </a:bodyPr>
          <a:lstStyle/>
          <a:p>
            <a:pPr algn="ctr" rtl="0"/>
            <a:r>
              <a:rPr lang="pt-BR" sz="4800" dirty="0">
                <a:solidFill>
                  <a:srgbClr val="7CEBFF"/>
                </a:solidFill>
              </a:rPr>
              <a:t>UM estudo exploratório e descritivo sobre Lucro e Demonstrações de Fluxo de Caixa (DFC) das 50 empresas mais lucrativas</a:t>
            </a:r>
          </a:p>
          <a:p>
            <a:pPr rtl="0"/>
            <a:endParaRPr lang="pt-BR" dirty="0">
              <a:solidFill>
                <a:srgbClr val="7CEBFF"/>
              </a:solidFill>
            </a:endParaRPr>
          </a:p>
        </p:txBody>
      </p:sp>
      <p:sp>
        <p:nvSpPr>
          <p:cNvPr id="5" name="Subtítulo 2">
            <a:extLst>
              <a:ext uri="{FF2B5EF4-FFF2-40B4-BE49-F238E27FC236}">
                <a16:creationId xmlns:a16="http://schemas.microsoft.com/office/drawing/2014/main" id="{B003AAB6-D4B3-F46F-060E-9E7EF6FF38AD}"/>
              </a:ext>
            </a:extLst>
          </p:cNvPr>
          <p:cNvSpPr txBox="1">
            <a:spLocks/>
          </p:cNvSpPr>
          <p:nvPr/>
        </p:nvSpPr>
        <p:spPr>
          <a:xfrm>
            <a:off x="482604" y="5905742"/>
            <a:ext cx="10993546" cy="484822"/>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r>
              <a:rPr lang="pt-BR" sz="1200" dirty="0">
                <a:solidFill>
                  <a:schemeClr val="bg1"/>
                </a:solidFill>
              </a:rPr>
              <a:t>Írven </a:t>
            </a:r>
            <a:r>
              <a:rPr lang="pt-BR" sz="1200" dirty="0" err="1">
                <a:solidFill>
                  <a:schemeClr val="bg1"/>
                </a:solidFill>
              </a:rPr>
              <a:t>xavier</a:t>
            </a:r>
            <a:endParaRPr lang="pt-BR" sz="1200" dirty="0">
              <a:solidFill>
                <a:schemeClr val="bg1"/>
              </a:solidFill>
            </a:endParaRPr>
          </a:p>
          <a:p>
            <a:endParaRPr lang="pt-BR" dirty="0">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E9C74E8C-2585-D8F8-A5FF-2F64D3227DDD}"/>
              </a:ext>
            </a:extLst>
          </p:cNvPr>
          <p:cNvSpPr txBox="1">
            <a:spLocks/>
          </p:cNvSpPr>
          <p:nvPr/>
        </p:nvSpPr>
        <p:spPr>
          <a:xfrm>
            <a:off x="539579" y="3120798"/>
            <a:ext cx="4114113"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pt-BR" sz="3200" b="1" dirty="0">
                <a:solidFill>
                  <a:schemeClr val="accent1"/>
                </a:solidFill>
              </a:rPr>
              <a:t>Objetivos</a:t>
            </a:r>
          </a:p>
        </p:txBody>
      </p:sp>
      <p:sp>
        <p:nvSpPr>
          <p:cNvPr id="8" name="Subtítulo 2">
            <a:extLst>
              <a:ext uri="{FF2B5EF4-FFF2-40B4-BE49-F238E27FC236}">
                <a16:creationId xmlns:a16="http://schemas.microsoft.com/office/drawing/2014/main" id="{FA7E60BD-CEFE-9380-8454-13F3AF2D4FB9}"/>
              </a:ext>
            </a:extLst>
          </p:cNvPr>
          <p:cNvSpPr txBox="1">
            <a:spLocks/>
          </p:cNvSpPr>
          <p:nvPr/>
        </p:nvSpPr>
        <p:spPr>
          <a:xfrm>
            <a:off x="700217" y="3805976"/>
            <a:ext cx="4114112" cy="685178"/>
          </a:xfrm>
          <a:prstGeom prst="rect">
            <a:avLst/>
          </a:prstGeom>
        </p:spPr>
        <p:txBody>
          <a:bodyPr vert="horz" lIns="91440" tIns="45720" rIns="91440" bIns="45720" rtlCol="0" anchor="ctr">
            <a:normAutofit fontScale="47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pt-BR" sz="4000" dirty="0">
                <a:solidFill>
                  <a:schemeClr val="accent1">
                    <a:lumMod val="60000"/>
                    <a:lumOff val="40000"/>
                  </a:schemeClr>
                </a:solidFill>
              </a:rPr>
              <a:t>Breve resumo dos objetivos da análise</a:t>
            </a:r>
          </a:p>
          <a:p>
            <a:endParaRPr lang="pt-BR" dirty="0">
              <a:solidFill>
                <a:srgbClr val="7CEBFF"/>
              </a:solidFill>
            </a:endParaRPr>
          </a:p>
        </p:txBody>
      </p:sp>
      <p:sp>
        <p:nvSpPr>
          <p:cNvPr id="12" name="Subtítulo 2">
            <a:extLst>
              <a:ext uri="{FF2B5EF4-FFF2-40B4-BE49-F238E27FC236}">
                <a16:creationId xmlns:a16="http://schemas.microsoft.com/office/drawing/2014/main" id="{9B27CDB8-F0D0-F9B7-1241-437956FD68AF}"/>
              </a:ext>
            </a:extLst>
          </p:cNvPr>
          <p:cNvSpPr txBox="1">
            <a:spLocks/>
          </p:cNvSpPr>
          <p:nvPr/>
        </p:nvSpPr>
        <p:spPr>
          <a:xfrm>
            <a:off x="6009502" y="1948278"/>
            <a:ext cx="5482281" cy="371539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2000" dirty="0">
                <a:solidFill>
                  <a:schemeClr val="accent1"/>
                </a:solidFill>
              </a:rPr>
              <a:t>- Analisar finanças de empresas lucrativas</a:t>
            </a:r>
          </a:p>
          <a:p>
            <a:pPr marL="0" indent="0">
              <a:buNone/>
            </a:pPr>
            <a:r>
              <a:rPr lang="pt-BR" sz="2000" dirty="0">
                <a:solidFill>
                  <a:schemeClr val="accent1"/>
                </a:solidFill>
              </a:rPr>
              <a:t>- Avaliar lucro por segmento</a:t>
            </a:r>
          </a:p>
          <a:p>
            <a:pPr marL="0" indent="0">
              <a:buNone/>
            </a:pPr>
            <a:r>
              <a:rPr lang="pt-BR" sz="2000" dirty="0">
                <a:solidFill>
                  <a:schemeClr val="accent1"/>
                </a:solidFill>
              </a:rPr>
              <a:t>- Detalhar a DFC</a:t>
            </a:r>
          </a:p>
          <a:p>
            <a:pPr marL="0" indent="0">
              <a:buNone/>
            </a:pPr>
            <a:r>
              <a:rPr lang="pt-BR" sz="2000" dirty="0">
                <a:solidFill>
                  <a:schemeClr val="accent1"/>
                </a:solidFill>
              </a:rPr>
              <a:t>-  Verificar conversão de lucro</a:t>
            </a:r>
          </a:p>
          <a:p>
            <a:pPr marL="0" indent="0">
              <a:buNone/>
            </a:pPr>
            <a:r>
              <a:rPr lang="pt-BR" sz="2000" dirty="0">
                <a:solidFill>
                  <a:schemeClr val="accent1"/>
                </a:solidFill>
              </a:rPr>
              <a:t>-  Identificar empresas com finanças saudáveis</a:t>
            </a:r>
          </a:p>
          <a:p>
            <a:pPr marL="0" indent="0">
              <a:buNone/>
            </a:pPr>
            <a:r>
              <a:rPr lang="pt-BR" sz="2000" dirty="0">
                <a:solidFill>
                  <a:schemeClr val="accent1"/>
                </a:solidFill>
              </a:rPr>
              <a:t>- Cruzar informações com a API da </a:t>
            </a:r>
            <a:r>
              <a:rPr lang="pt-BR" sz="2000" dirty="0" err="1">
                <a:solidFill>
                  <a:schemeClr val="accent1"/>
                </a:solidFill>
              </a:rPr>
              <a:t>Markestack</a:t>
            </a:r>
            <a:endParaRPr lang="pt-BR" sz="2000" dirty="0">
              <a:solidFill>
                <a:schemeClr val="accent1"/>
              </a:solidFill>
            </a:endParaRPr>
          </a:p>
        </p:txBody>
      </p:sp>
    </p:spTree>
    <p:extLst>
      <p:ext uri="{BB962C8B-B14F-4D97-AF65-F5344CB8AC3E}">
        <p14:creationId xmlns:p14="http://schemas.microsoft.com/office/powerpoint/2010/main" val="497607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65DFE-BF7C-0571-6F2D-EC7E96EA36E5}"/>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21C56129-407D-8DB8-83C5-9DB2D6428E70}"/>
              </a:ext>
            </a:extLst>
          </p:cNvPr>
          <p:cNvSpPr txBox="1">
            <a:spLocks/>
          </p:cNvSpPr>
          <p:nvPr/>
        </p:nvSpPr>
        <p:spPr>
          <a:xfrm>
            <a:off x="444844" y="489247"/>
            <a:ext cx="7006281"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Análise Exploratória</a:t>
            </a:r>
          </a:p>
        </p:txBody>
      </p:sp>
      <p:sp>
        <p:nvSpPr>
          <p:cNvPr id="8" name="Subtítulo 2">
            <a:extLst>
              <a:ext uri="{FF2B5EF4-FFF2-40B4-BE49-F238E27FC236}">
                <a16:creationId xmlns:a16="http://schemas.microsoft.com/office/drawing/2014/main" id="{A7B4A5AC-CEB8-6D8C-73FC-8A85E3FCFBCA}"/>
              </a:ext>
            </a:extLst>
          </p:cNvPr>
          <p:cNvSpPr txBox="1">
            <a:spLocks/>
          </p:cNvSpPr>
          <p:nvPr/>
        </p:nvSpPr>
        <p:spPr>
          <a:xfrm>
            <a:off x="444844" y="1322707"/>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2400" dirty="0">
                <a:solidFill>
                  <a:schemeClr val="accent1">
                    <a:lumMod val="60000"/>
                    <a:lumOff val="40000"/>
                  </a:schemeClr>
                </a:solidFill>
              </a:rPr>
              <a:t>Verificação dos tipos de dados e primeiras impressões </a:t>
            </a:r>
          </a:p>
          <a:p>
            <a:endParaRPr lang="pt-BR" dirty="0">
              <a:solidFill>
                <a:srgbClr val="7CEBFF"/>
              </a:solidFill>
            </a:endParaRPr>
          </a:p>
        </p:txBody>
      </p:sp>
      <p:sp>
        <p:nvSpPr>
          <p:cNvPr id="12" name="Subtítulo 2">
            <a:extLst>
              <a:ext uri="{FF2B5EF4-FFF2-40B4-BE49-F238E27FC236}">
                <a16:creationId xmlns:a16="http://schemas.microsoft.com/office/drawing/2014/main" id="{1C3DF8A1-030C-A142-8B3B-110731D82262}"/>
              </a:ext>
            </a:extLst>
          </p:cNvPr>
          <p:cNvSpPr txBox="1">
            <a:spLocks/>
          </p:cNvSpPr>
          <p:nvPr/>
        </p:nvSpPr>
        <p:spPr>
          <a:xfrm>
            <a:off x="683740" y="1571301"/>
            <a:ext cx="6001265" cy="371539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2000" dirty="0">
                <a:solidFill>
                  <a:schemeClr val="accent1"/>
                </a:solidFill>
              </a:rPr>
              <a:t>- + de 60k de entradas, separadas por 28 colunas</a:t>
            </a:r>
          </a:p>
          <a:p>
            <a:pPr marL="0" indent="0">
              <a:buNone/>
            </a:pPr>
            <a:r>
              <a:rPr lang="pt-BR" sz="2000" dirty="0">
                <a:solidFill>
                  <a:schemeClr val="accent1"/>
                </a:solidFill>
              </a:rPr>
              <a:t>- Contagem de valores nulos por coluna</a:t>
            </a:r>
          </a:p>
          <a:p>
            <a:pPr marL="0" indent="0">
              <a:buNone/>
            </a:pPr>
            <a:r>
              <a:rPr lang="pt-BR" sz="2000" dirty="0">
                <a:solidFill>
                  <a:schemeClr val="accent1"/>
                </a:solidFill>
              </a:rPr>
              <a:t>-  Transformação de coluna de data para </a:t>
            </a:r>
            <a:r>
              <a:rPr lang="pt-BR" sz="2000" dirty="0" err="1">
                <a:solidFill>
                  <a:schemeClr val="accent1"/>
                </a:solidFill>
              </a:rPr>
              <a:t>datetime</a:t>
            </a:r>
            <a:endParaRPr lang="pt-BR" sz="2000" dirty="0">
              <a:solidFill>
                <a:schemeClr val="accent1"/>
              </a:solidFill>
            </a:endParaRPr>
          </a:p>
          <a:p>
            <a:pPr marL="0" indent="0">
              <a:buNone/>
            </a:pPr>
            <a:r>
              <a:rPr lang="pt-BR" sz="2000" dirty="0">
                <a:solidFill>
                  <a:schemeClr val="accent1"/>
                </a:solidFill>
              </a:rPr>
              <a:t>- Contagem de empresas únicas (3686)</a:t>
            </a:r>
          </a:p>
          <a:p>
            <a:pPr marL="0" indent="0">
              <a:buNone/>
            </a:pPr>
            <a:r>
              <a:rPr lang="pt-BR" sz="2000" dirty="0">
                <a:solidFill>
                  <a:schemeClr val="accent1"/>
                </a:solidFill>
              </a:rPr>
              <a:t>-  Verificação de setores das empresas</a:t>
            </a:r>
          </a:p>
          <a:p>
            <a:pPr marL="0" indent="0">
              <a:buNone/>
            </a:pPr>
            <a:r>
              <a:rPr lang="pt-BR" sz="2000" dirty="0">
                <a:solidFill>
                  <a:schemeClr val="accent1"/>
                </a:solidFill>
              </a:rPr>
              <a:t>- Identificação da última data de publicação das   demonstrações</a:t>
            </a:r>
          </a:p>
        </p:txBody>
      </p:sp>
      <p:pic>
        <p:nvPicPr>
          <p:cNvPr id="3" name="Imagem 2">
            <a:extLst>
              <a:ext uri="{FF2B5EF4-FFF2-40B4-BE49-F238E27FC236}">
                <a16:creationId xmlns:a16="http://schemas.microsoft.com/office/drawing/2014/main" id="{598EC3B6-3D28-C63B-CD2D-FAAC60C2A71F}"/>
              </a:ext>
            </a:extLst>
          </p:cNvPr>
          <p:cNvPicPr>
            <a:picLocks noChangeAspect="1"/>
          </p:cNvPicPr>
          <p:nvPr/>
        </p:nvPicPr>
        <p:blipFill>
          <a:blip r:embed="rId3"/>
          <a:stretch>
            <a:fillRect/>
          </a:stretch>
        </p:blipFill>
        <p:spPr>
          <a:xfrm>
            <a:off x="7196394" y="2156166"/>
            <a:ext cx="3681670" cy="4502895"/>
          </a:xfrm>
          <a:prstGeom prst="rect">
            <a:avLst/>
          </a:prstGeom>
        </p:spPr>
      </p:pic>
      <p:sp>
        <p:nvSpPr>
          <p:cNvPr id="4" name="Subtítulo 2">
            <a:extLst>
              <a:ext uri="{FF2B5EF4-FFF2-40B4-BE49-F238E27FC236}">
                <a16:creationId xmlns:a16="http://schemas.microsoft.com/office/drawing/2014/main" id="{43A78E7B-6A52-31D5-9369-FA634A849E1C}"/>
              </a:ext>
            </a:extLst>
          </p:cNvPr>
          <p:cNvSpPr txBox="1">
            <a:spLocks/>
          </p:cNvSpPr>
          <p:nvPr/>
        </p:nvSpPr>
        <p:spPr>
          <a:xfrm>
            <a:off x="8065486" y="1982293"/>
            <a:ext cx="3681670" cy="112790"/>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i="1" dirty="0">
                <a:solidFill>
                  <a:schemeClr val="accent1"/>
                </a:solidFill>
              </a:rPr>
              <a:t>Tipo, contagem de nulos e colunas</a:t>
            </a:r>
          </a:p>
          <a:p>
            <a:endParaRPr lang="pt-BR" sz="1000" i="1" dirty="0">
              <a:solidFill>
                <a:srgbClr val="7CEBFF"/>
              </a:solidFill>
            </a:endParaRPr>
          </a:p>
        </p:txBody>
      </p:sp>
    </p:spTree>
    <p:extLst>
      <p:ext uri="{BB962C8B-B14F-4D97-AF65-F5344CB8AC3E}">
        <p14:creationId xmlns:p14="http://schemas.microsoft.com/office/powerpoint/2010/main" val="3249301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5BB70-4A96-0370-6211-F73958CB5948}"/>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E4CC31C6-2D0B-E35F-A32D-77A9648A451F}"/>
              </a:ext>
            </a:extLst>
          </p:cNvPr>
          <p:cNvSpPr txBox="1">
            <a:spLocks/>
          </p:cNvSpPr>
          <p:nvPr/>
        </p:nvSpPr>
        <p:spPr>
          <a:xfrm>
            <a:off x="444842" y="570430"/>
            <a:ext cx="8167815"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Análise de Lucro das Empresas</a:t>
            </a:r>
          </a:p>
        </p:txBody>
      </p:sp>
      <p:sp>
        <p:nvSpPr>
          <p:cNvPr id="8" name="Subtítulo 2">
            <a:extLst>
              <a:ext uri="{FF2B5EF4-FFF2-40B4-BE49-F238E27FC236}">
                <a16:creationId xmlns:a16="http://schemas.microsoft.com/office/drawing/2014/main" id="{F7BB08E2-0BE3-C96C-4DD0-D6722F4BBAF4}"/>
              </a:ext>
            </a:extLst>
          </p:cNvPr>
          <p:cNvSpPr txBox="1">
            <a:spLocks/>
          </p:cNvSpPr>
          <p:nvPr/>
        </p:nvSpPr>
        <p:spPr>
          <a:xfrm>
            <a:off x="444842" y="1426421"/>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2400" dirty="0">
                <a:solidFill>
                  <a:schemeClr val="accent1">
                    <a:lumMod val="60000"/>
                    <a:lumOff val="40000"/>
                  </a:schemeClr>
                </a:solidFill>
              </a:rPr>
              <a:t>Remoção de empresas com lucro nulo e primeiras impressões </a:t>
            </a:r>
          </a:p>
          <a:p>
            <a:endParaRPr lang="pt-BR" dirty="0">
              <a:solidFill>
                <a:srgbClr val="7CEBFF"/>
              </a:solidFill>
            </a:endParaRPr>
          </a:p>
        </p:txBody>
      </p:sp>
      <p:sp>
        <p:nvSpPr>
          <p:cNvPr id="12" name="Subtítulo 2">
            <a:extLst>
              <a:ext uri="{FF2B5EF4-FFF2-40B4-BE49-F238E27FC236}">
                <a16:creationId xmlns:a16="http://schemas.microsoft.com/office/drawing/2014/main" id="{C830EF6E-48A7-E03C-00D6-8526C5E1C7F4}"/>
              </a:ext>
            </a:extLst>
          </p:cNvPr>
          <p:cNvSpPr txBox="1">
            <a:spLocks/>
          </p:cNvSpPr>
          <p:nvPr/>
        </p:nvSpPr>
        <p:spPr>
          <a:xfrm>
            <a:off x="444842" y="1272662"/>
            <a:ext cx="7733272"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600" dirty="0">
                <a:solidFill>
                  <a:schemeClr val="accent1"/>
                </a:solidFill>
              </a:rPr>
              <a:t>- Overview por ano</a:t>
            </a:r>
          </a:p>
          <a:p>
            <a:pPr marL="0" indent="0">
              <a:buNone/>
            </a:pPr>
            <a:r>
              <a:rPr lang="pt-BR" sz="1600" dirty="0">
                <a:solidFill>
                  <a:schemeClr val="accent1"/>
                </a:solidFill>
              </a:rPr>
              <a:t>- Filtro inicial das empresas</a:t>
            </a:r>
          </a:p>
          <a:p>
            <a:pPr marL="0" indent="0">
              <a:buNone/>
            </a:pPr>
            <a:r>
              <a:rPr lang="pt-BR" sz="1600" dirty="0">
                <a:solidFill>
                  <a:schemeClr val="accent1"/>
                </a:solidFill>
              </a:rPr>
              <a:t>- Contagem de empresas que lucram todos os anos</a:t>
            </a:r>
          </a:p>
          <a:p>
            <a:pPr marL="0" indent="0">
              <a:buNone/>
            </a:pPr>
            <a:r>
              <a:rPr lang="pt-BR" sz="1600" dirty="0">
                <a:solidFill>
                  <a:schemeClr val="accent1"/>
                </a:solidFill>
              </a:rPr>
              <a:t>- Seleção das 50 empresas que lucram todos os anos </a:t>
            </a:r>
          </a:p>
          <a:p>
            <a:pPr marL="0" indent="0">
              <a:buNone/>
            </a:pPr>
            <a:r>
              <a:rPr lang="pt-BR" sz="1600" dirty="0">
                <a:solidFill>
                  <a:schemeClr val="accent1"/>
                </a:solidFill>
              </a:rPr>
              <a:t>- Dessas 50, uma foi removida por apresentar lucros idênticos à outra empresa</a:t>
            </a:r>
          </a:p>
        </p:txBody>
      </p:sp>
      <p:pic>
        <p:nvPicPr>
          <p:cNvPr id="6" name="Imagem 5">
            <a:extLst>
              <a:ext uri="{FF2B5EF4-FFF2-40B4-BE49-F238E27FC236}">
                <a16:creationId xmlns:a16="http://schemas.microsoft.com/office/drawing/2014/main" id="{59ACC864-3C20-45E0-CBA6-DDA13A5EEF52}"/>
              </a:ext>
            </a:extLst>
          </p:cNvPr>
          <p:cNvPicPr>
            <a:picLocks noChangeAspect="1"/>
          </p:cNvPicPr>
          <p:nvPr/>
        </p:nvPicPr>
        <p:blipFill>
          <a:blip r:embed="rId3"/>
          <a:stretch>
            <a:fillRect/>
          </a:stretch>
        </p:blipFill>
        <p:spPr>
          <a:xfrm>
            <a:off x="624275" y="3789371"/>
            <a:ext cx="3904474" cy="2926558"/>
          </a:xfrm>
          <a:prstGeom prst="rect">
            <a:avLst/>
          </a:prstGeom>
        </p:spPr>
      </p:pic>
      <p:pic>
        <p:nvPicPr>
          <p:cNvPr id="9" name="Imagem 8">
            <a:extLst>
              <a:ext uri="{FF2B5EF4-FFF2-40B4-BE49-F238E27FC236}">
                <a16:creationId xmlns:a16="http://schemas.microsoft.com/office/drawing/2014/main" id="{411F8F84-D81B-0F4E-9A59-53B7AB53F03B}"/>
              </a:ext>
            </a:extLst>
          </p:cNvPr>
          <p:cNvPicPr>
            <a:picLocks noChangeAspect="1"/>
          </p:cNvPicPr>
          <p:nvPr/>
        </p:nvPicPr>
        <p:blipFill>
          <a:blip r:embed="rId4"/>
          <a:stretch>
            <a:fillRect/>
          </a:stretch>
        </p:blipFill>
        <p:spPr>
          <a:xfrm>
            <a:off x="5010146" y="4199220"/>
            <a:ext cx="6199493" cy="2106859"/>
          </a:xfrm>
          <a:prstGeom prst="rect">
            <a:avLst/>
          </a:prstGeom>
        </p:spPr>
      </p:pic>
    </p:spTree>
    <p:extLst>
      <p:ext uri="{BB962C8B-B14F-4D97-AF65-F5344CB8AC3E}">
        <p14:creationId xmlns:p14="http://schemas.microsoft.com/office/powerpoint/2010/main" val="723244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010EF-38FA-7D47-947E-C5EA539ACD87}"/>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826DECE3-CAF8-D72F-AAA2-74554ECB5770}"/>
              </a:ext>
            </a:extLst>
          </p:cNvPr>
          <p:cNvSpPr txBox="1">
            <a:spLocks/>
          </p:cNvSpPr>
          <p:nvPr/>
        </p:nvSpPr>
        <p:spPr>
          <a:xfrm>
            <a:off x="444842" y="570430"/>
            <a:ext cx="8167815"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Análise de Lucro Por setor</a:t>
            </a:r>
          </a:p>
        </p:txBody>
      </p:sp>
      <p:sp>
        <p:nvSpPr>
          <p:cNvPr id="8" name="Subtítulo 2">
            <a:extLst>
              <a:ext uri="{FF2B5EF4-FFF2-40B4-BE49-F238E27FC236}">
                <a16:creationId xmlns:a16="http://schemas.microsoft.com/office/drawing/2014/main" id="{CB4525EE-DBAC-4907-5B74-0F0121DDCA66}"/>
              </a:ext>
            </a:extLst>
          </p:cNvPr>
          <p:cNvSpPr txBox="1">
            <a:spLocks/>
          </p:cNvSpPr>
          <p:nvPr/>
        </p:nvSpPr>
        <p:spPr>
          <a:xfrm>
            <a:off x="444842" y="1341933"/>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2400" dirty="0">
                <a:solidFill>
                  <a:schemeClr val="accent1">
                    <a:lumMod val="60000"/>
                    <a:lumOff val="40000"/>
                  </a:schemeClr>
                </a:solidFill>
              </a:rPr>
              <a:t>Remoção de empresas com lucro nulo e primeiras impressões </a:t>
            </a:r>
          </a:p>
          <a:p>
            <a:endParaRPr lang="pt-BR" dirty="0">
              <a:solidFill>
                <a:srgbClr val="7CEBFF"/>
              </a:solidFill>
            </a:endParaRPr>
          </a:p>
        </p:txBody>
      </p:sp>
      <p:sp>
        <p:nvSpPr>
          <p:cNvPr id="12" name="Subtítulo 2">
            <a:extLst>
              <a:ext uri="{FF2B5EF4-FFF2-40B4-BE49-F238E27FC236}">
                <a16:creationId xmlns:a16="http://schemas.microsoft.com/office/drawing/2014/main" id="{725E4D86-5C79-8878-CC91-705CACC83E94}"/>
              </a:ext>
            </a:extLst>
          </p:cNvPr>
          <p:cNvSpPr txBox="1">
            <a:spLocks/>
          </p:cNvSpPr>
          <p:nvPr/>
        </p:nvSpPr>
        <p:spPr>
          <a:xfrm>
            <a:off x="444842" y="1374667"/>
            <a:ext cx="11302316"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Overview por ano</a:t>
            </a:r>
          </a:p>
          <a:p>
            <a:pPr marL="0" indent="0">
              <a:buNone/>
            </a:pPr>
            <a:r>
              <a:rPr lang="pt-BR" sz="1400" dirty="0">
                <a:solidFill>
                  <a:schemeClr val="accent1"/>
                </a:solidFill>
              </a:rPr>
              <a:t>- Resumo por setor</a:t>
            </a:r>
          </a:p>
          <a:p>
            <a:pPr marL="0" indent="0">
              <a:buNone/>
            </a:pPr>
            <a:r>
              <a:rPr lang="pt-BR" sz="1400" dirty="0">
                <a:solidFill>
                  <a:schemeClr val="accent1"/>
                </a:solidFill>
              </a:rPr>
              <a:t>- Contagem de empresas que lucram todos os anos por setor</a:t>
            </a:r>
          </a:p>
          <a:p>
            <a:pPr marL="0" indent="0">
              <a:buNone/>
            </a:pPr>
            <a:r>
              <a:rPr lang="pt-BR" sz="1400" dirty="0">
                <a:solidFill>
                  <a:schemeClr val="accent1"/>
                </a:solidFill>
              </a:rPr>
              <a:t>- Embora mais lucrativo, o setor de Basic </a:t>
            </a:r>
            <a:r>
              <a:rPr lang="pt-BR" sz="1400" dirty="0" err="1">
                <a:solidFill>
                  <a:schemeClr val="accent1"/>
                </a:solidFill>
              </a:rPr>
              <a:t>Materials</a:t>
            </a:r>
            <a:r>
              <a:rPr lang="pt-BR" sz="1400" dirty="0">
                <a:solidFill>
                  <a:schemeClr val="accent1"/>
                </a:solidFill>
              </a:rPr>
              <a:t> é apenas o antepenúltimo setor com mais empresas lucrativas, o que indica a possibilidade de poucas empresas estarem “puxando” o setor</a:t>
            </a:r>
          </a:p>
          <a:p>
            <a:pPr marL="0" indent="0">
              <a:buNone/>
            </a:pPr>
            <a:r>
              <a:rPr lang="pt-BR" sz="1400" dirty="0">
                <a:solidFill>
                  <a:schemeClr val="accent1"/>
                </a:solidFill>
              </a:rPr>
              <a:t>- Financial Services apresenta boa folga diante dos demais setores todos os anos, justificando a posição como setor com mais empresas lucrativas</a:t>
            </a:r>
          </a:p>
          <a:p>
            <a:pPr marL="0" indent="0">
              <a:buNone/>
            </a:pPr>
            <a:endParaRPr lang="pt-BR" sz="1400" dirty="0">
              <a:solidFill>
                <a:schemeClr val="accent1"/>
              </a:solidFill>
            </a:endParaRPr>
          </a:p>
        </p:txBody>
      </p:sp>
      <p:pic>
        <p:nvPicPr>
          <p:cNvPr id="3" name="Imagem 2">
            <a:extLst>
              <a:ext uri="{FF2B5EF4-FFF2-40B4-BE49-F238E27FC236}">
                <a16:creationId xmlns:a16="http://schemas.microsoft.com/office/drawing/2014/main" id="{DCA5C4A5-D00F-F26C-F47F-2823F069E61F}"/>
              </a:ext>
            </a:extLst>
          </p:cNvPr>
          <p:cNvPicPr>
            <a:picLocks noChangeAspect="1"/>
          </p:cNvPicPr>
          <p:nvPr/>
        </p:nvPicPr>
        <p:blipFill>
          <a:blip r:embed="rId3"/>
          <a:stretch>
            <a:fillRect/>
          </a:stretch>
        </p:blipFill>
        <p:spPr>
          <a:xfrm>
            <a:off x="444842" y="3776007"/>
            <a:ext cx="7272296" cy="2890227"/>
          </a:xfrm>
          <a:prstGeom prst="rect">
            <a:avLst/>
          </a:prstGeom>
        </p:spPr>
      </p:pic>
      <p:pic>
        <p:nvPicPr>
          <p:cNvPr id="7" name="Imagem 6">
            <a:extLst>
              <a:ext uri="{FF2B5EF4-FFF2-40B4-BE49-F238E27FC236}">
                <a16:creationId xmlns:a16="http://schemas.microsoft.com/office/drawing/2014/main" id="{434A41A3-A167-B898-6775-7F4068C75900}"/>
              </a:ext>
            </a:extLst>
          </p:cNvPr>
          <p:cNvPicPr>
            <a:picLocks noChangeAspect="1"/>
          </p:cNvPicPr>
          <p:nvPr/>
        </p:nvPicPr>
        <p:blipFill>
          <a:blip r:embed="rId4"/>
          <a:stretch>
            <a:fillRect/>
          </a:stretch>
        </p:blipFill>
        <p:spPr>
          <a:xfrm>
            <a:off x="8260835" y="3836796"/>
            <a:ext cx="3366873" cy="2829438"/>
          </a:xfrm>
          <a:prstGeom prst="rect">
            <a:avLst/>
          </a:prstGeom>
        </p:spPr>
      </p:pic>
    </p:spTree>
    <p:extLst>
      <p:ext uri="{BB962C8B-B14F-4D97-AF65-F5344CB8AC3E}">
        <p14:creationId xmlns:p14="http://schemas.microsoft.com/office/powerpoint/2010/main" val="2422196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EFF08-8B58-48E4-4043-7F223515ACC6}"/>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03D08DEF-A279-2F99-9D1A-7AA57AE99D5A}"/>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Análise de Fluxo de Caixa Operacional </a:t>
            </a:r>
          </a:p>
        </p:txBody>
      </p:sp>
      <p:sp>
        <p:nvSpPr>
          <p:cNvPr id="12" name="Subtítulo 2">
            <a:extLst>
              <a:ext uri="{FF2B5EF4-FFF2-40B4-BE49-F238E27FC236}">
                <a16:creationId xmlns:a16="http://schemas.microsoft.com/office/drawing/2014/main" id="{CB40E52A-D56E-7240-9507-9DA9F7301FB6}"/>
              </a:ext>
            </a:extLst>
          </p:cNvPr>
          <p:cNvSpPr txBox="1">
            <a:spLocks/>
          </p:cNvSpPr>
          <p:nvPr/>
        </p:nvSpPr>
        <p:spPr>
          <a:xfrm>
            <a:off x="444842" y="949786"/>
            <a:ext cx="11302316"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Overview por ano</a:t>
            </a:r>
          </a:p>
          <a:p>
            <a:pPr marL="0" indent="0">
              <a:buNone/>
            </a:pPr>
            <a:r>
              <a:rPr lang="pt-BR" sz="1400" dirty="0">
                <a:solidFill>
                  <a:schemeClr val="accent1"/>
                </a:solidFill>
              </a:rPr>
              <a:t>- Criação de coluna “Situação”</a:t>
            </a:r>
          </a:p>
          <a:p>
            <a:pPr marL="0" indent="0">
              <a:buNone/>
            </a:pPr>
            <a:r>
              <a:rPr lang="pt-BR" sz="1400" dirty="0">
                <a:solidFill>
                  <a:schemeClr val="accent1"/>
                </a:solidFill>
              </a:rPr>
              <a:t>-  Verificação do número de empresas que gera ou degenera caixa por ano</a:t>
            </a:r>
          </a:p>
          <a:p>
            <a:pPr marL="0" indent="0">
              <a:buNone/>
            </a:pPr>
            <a:r>
              <a:rPr lang="pt-BR" sz="1400" dirty="0">
                <a:solidFill>
                  <a:schemeClr val="accent1"/>
                </a:solidFill>
              </a:rPr>
              <a:t>- Das 49 empresas restantes, a grande maioria gera caixa operacional todos os anos</a:t>
            </a:r>
          </a:p>
          <a:p>
            <a:pPr marL="0" indent="0">
              <a:buNone/>
            </a:pPr>
            <a:r>
              <a:rPr lang="pt-BR" sz="1400" dirty="0">
                <a:solidFill>
                  <a:schemeClr val="accent1"/>
                </a:solidFill>
              </a:rPr>
              <a:t>- Primeiros indícios de que as empresas convertem lucro em caixa operacional e que podem gerar caixa líquido</a:t>
            </a:r>
          </a:p>
          <a:p>
            <a:pPr marL="0" indent="0">
              <a:buNone/>
            </a:pPr>
            <a:endParaRPr lang="pt-BR" sz="1400" dirty="0">
              <a:solidFill>
                <a:schemeClr val="accent1"/>
              </a:solidFill>
            </a:endParaRPr>
          </a:p>
        </p:txBody>
      </p:sp>
      <p:pic>
        <p:nvPicPr>
          <p:cNvPr id="4" name="Imagem 3">
            <a:extLst>
              <a:ext uri="{FF2B5EF4-FFF2-40B4-BE49-F238E27FC236}">
                <a16:creationId xmlns:a16="http://schemas.microsoft.com/office/drawing/2014/main" id="{9EFCAAE7-A05E-6E0E-CBA7-23B61EC3C90B}"/>
              </a:ext>
            </a:extLst>
          </p:cNvPr>
          <p:cNvPicPr>
            <a:picLocks noChangeAspect="1"/>
          </p:cNvPicPr>
          <p:nvPr/>
        </p:nvPicPr>
        <p:blipFill>
          <a:blip r:embed="rId3"/>
          <a:stretch>
            <a:fillRect/>
          </a:stretch>
        </p:blipFill>
        <p:spPr>
          <a:xfrm>
            <a:off x="1105285" y="3570520"/>
            <a:ext cx="3231936" cy="3071010"/>
          </a:xfrm>
          <a:prstGeom prst="rect">
            <a:avLst/>
          </a:prstGeom>
        </p:spPr>
      </p:pic>
      <p:pic>
        <p:nvPicPr>
          <p:cNvPr id="9" name="Imagem 8">
            <a:extLst>
              <a:ext uri="{FF2B5EF4-FFF2-40B4-BE49-F238E27FC236}">
                <a16:creationId xmlns:a16="http://schemas.microsoft.com/office/drawing/2014/main" id="{46E1210D-4019-7A20-1F40-2E195B6B0162}"/>
              </a:ext>
            </a:extLst>
          </p:cNvPr>
          <p:cNvPicPr>
            <a:picLocks noChangeAspect="1"/>
          </p:cNvPicPr>
          <p:nvPr/>
        </p:nvPicPr>
        <p:blipFill>
          <a:blip r:embed="rId4"/>
          <a:stretch>
            <a:fillRect/>
          </a:stretch>
        </p:blipFill>
        <p:spPr>
          <a:xfrm>
            <a:off x="4815093" y="3570520"/>
            <a:ext cx="6716465" cy="3176707"/>
          </a:xfrm>
          <a:prstGeom prst="rect">
            <a:avLst/>
          </a:prstGeom>
        </p:spPr>
      </p:pic>
    </p:spTree>
    <p:extLst>
      <p:ext uri="{BB962C8B-B14F-4D97-AF65-F5344CB8AC3E}">
        <p14:creationId xmlns:p14="http://schemas.microsoft.com/office/powerpoint/2010/main" val="1541166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012A3-151C-4894-4F4E-EE27597E35B7}"/>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2BF345B8-F5C1-BC9A-0211-DD07514390E9}"/>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Análise de Fluxo de Caixa Investimento </a:t>
            </a:r>
          </a:p>
        </p:txBody>
      </p:sp>
      <p:sp>
        <p:nvSpPr>
          <p:cNvPr id="12" name="Subtítulo 2">
            <a:extLst>
              <a:ext uri="{FF2B5EF4-FFF2-40B4-BE49-F238E27FC236}">
                <a16:creationId xmlns:a16="http://schemas.microsoft.com/office/drawing/2014/main" id="{34BFABDD-86FA-7CD0-036C-4CE82051C4F6}"/>
              </a:ext>
            </a:extLst>
          </p:cNvPr>
          <p:cNvSpPr txBox="1">
            <a:spLocks/>
          </p:cNvSpPr>
          <p:nvPr/>
        </p:nvSpPr>
        <p:spPr>
          <a:xfrm>
            <a:off x="438892" y="912776"/>
            <a:ext cx="11302316"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Overview por ano</a:t>
            </a:r>
          </a:p>
          <a:p>
            <a:pPr marL="0" indent="0">
              <a:buNone/>
            </a:pPr>
            <a:r>
              <a:rPr lang="pt-BR" sz="1400" dirty="0">
                <a:solidFill>
                  <a:schemeClr val="accent1"/>
                </a:solidFill>
              </a:rPr>
              <a:t>- Criação de coluna “Situação”</a:t>
            </a:r>
          </a:p>
          <a:p>
            <a:pPr marL="0" indent="0">
              <a:buNone/>
            </a:pPr>
            <a:r>
              <a:rPr lang="pt-BR" sz="1400" dirty="0">
                <a:solidFill>
                  <a:schemeClr val="accent1"/>
                </a:solidFill>
              </a:rPr>
              <a:t>-  Verificação do número de empresas que geram ou degeneram caixa investimento por ano</a:t>
            </a:r>
          </a:p>
          <a:p>
            <a:pPr marL="0" indent="0">
              <a:buNone/>
            </a:pPr>
            <a:r>
              <a:rPr lang="pt-BR" sz="1400" dirty="0">
                <a:solidFill>
                  <a:schemeClr val="accent1"/>
                </a:solidFill>
              </a:rPr>
              <a:t>- Das 49 empresas restantes, a grande maioria degenera caixa investimento todos os anos, o que não quer dizer algo ruim</a:t>
            </a:r>
          </a:p>
          <a:p>
            <a:pPr marL="0" indent="0">
              <a:buNone/>
            </a:pPr>
            <a:r>
              <a:rPr lang="pt-BR" sz="1400" dirty="0">
                <a:solidFill>
                  <a:schemeClr val="accent1"/>
                </a:solidFill>
              </a:rPr>
              <a:t>- O </a:t>
            </a:r>
            <a:r>
              <a:rPr lang="pt-BR" sz="1400" dirty="0" err="1">
                <a:solidFill>
                  <a:schemeClr val="accent1"/>
                </a:solidFill>
              </a:rPr>
              <a:t>Dataset</a:t>
            </a:r>
            <a:r>
              <a:rPr lang="pt-BR" sz="1400" dirty="0">
                <a:solidFill>
                  <a:schemeClr val="accent1"/>
                </a:solidFill>
              </a:rPr>
              <a:t> não especifica os tipos de investimentos, mas subentende-se que as empresas investem seus caixas em Ativos (circulantes ou não)</a:t>
            </a:r>
          </a:p>
          <a:p>
            <a:pPr marL="0" indent="0">
              <a:buNone/>
            </a:pPr>
            <a:endParaRPr lang="pt-BR" sz="1400" dirty="0">
              <a:solidFill>
                <a:schemeClr val="accent1"/>
              </a:solidFill>
            </a:endParaRPr>
          </a:p>
        </p:txBody>
      </p:sp>
      <p:pic>
        <p:nvPicPr>
          <p:cNvPr id="3" name="Imagem 2">
            <a:extLst>
              <a:ext uri="{FF2B5EF4-FFF2-40B4-BE49-F238E27FC236}">
                <a16:creationId xmlns:a16="http://schemas.microsoft.com/office/drawing/2014/main" id="{CF98E27F-46B9-E7AE-1737-B1E1492ACD06}"/>
              </a:ext>
            </a:extLst>
          </p:cNvPr>
          <p:cNvPicPr>
            <a:picLocks noChangeAspect="1"/>
          </p:cNvPicPr>
          <p:nvPr/>
        </p:nvPicPr>
        <p:blipFill>
          <a:blip r:embed="rId3"/>
          <a:stretch>
            <a:fillRect/>
          </a:stretch>
        </p:blipFill>
        <p:spPr>
          <a:xfrm>
            <a:off x="1074983" y="3429000"/>
            <a:ext cx="3109970" cy="3176707"/>
          </a:xfrm>
          <a:prstGeom prst="rect">
            <a:avLst/>
          </a:prstGeom>
        </p:spPr>
      </p:pic>
      <p:pic>
        <p:nvPicPr>
          <p:cNvPr id="7" name="Imagem 6">
            <a:extLst>
              <a:ext uri="{FF2B5EF4-FFF2-40B4-BE49-F238E27FC236}">
                <a16:creationId xmlns:a16="http://schemas.microsoft.com/office/drawing/2014/main" id="{8F76CBE8-ECFA-B699-C400-894220564374}"/>
              </a:ext>
            </a:extLst>
          </p:cNvPr>
          <p:cNvPicPr>
            <a:picLocks noChangeAspect="1"/>
          </p:cNvPicPr>
          <p:nvPr/>
        </p:nvPicPr>
        <p:blipFill>
          <a:blip r:embed="rId4"/>
          <a:stretch>
            <a:fillRect/>
          </a:stretch>
        </p:blipFill>
        <p:spPr>
          <a:xfrm>
            <a:off x="4815094" y="3361499"/>
            <a:ext cx="6926114" cy="3347479"/>
          </a:xfrm>
          <a:prstGeom prst="rect">
            <a:avLst/>
          </a:prstGeom>
        </p:spPr>
      </p:pic>
    </p:spTree>
    <p:extLst>
      <p:ext uri="{BB962C8B-B14F-4D97-AF65-F5344CB8AC3E}">
        <p14:creationId xmlns:p14="http://schemas.microsoft.com/office/powerpoint/2010/main" val="834221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79392-C017-6B7B-F2D3-C4B515E9C9C9}"/>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B3F22DEE-9D33-D4B7-FBA4-3A38C80E2967}"/>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Análise de Fluxo de Caixa Financiamento </a:t>
            </a:r>
          </a:p>
        </p:txBody>
      </p:sp>
      <p:sp>
        <p:nvSpPr>
          <p:cNvPr id="12" name="Subtítulo 2">
            <a:extLst>
              <a:ext uri="{FF2B5EF4-FFF2-40B4-BE49-F238E27FC236}">
                <a16:creationId xmlns:a16="http://schemas.microsoft.com/office/drawing/2014/main" id="{A80513F5-2938-7FB0-B964-2B5414A3A942}"/>
              </a:ext>
            </a:extLst>
          </p:cNvPr>
          <p:cNvSpPr txBox="1">
            <a:spLocks/>
          </p:cNvSpPr>
          <p:nvPr/>
        </p:nvSpPr>
        <p:spPr>
          <a:xfrm>
            <a:off x="438892" y="912776"/>
            <a:ext cx="11302316"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Overview por ano</a:t>
            </a:r>
          </a:p>
          <a:p>
            <a:pPr marL="0" indent="0">
              <a:buNone/>
            </a:pPr>
            <a:r>
              <a:rPr lang="pt-BR" sz="1400" dirty="0">
                <a:solidFill>
                  <a:schemeClr val="accent1"/>
                </a:solidFill>
              </a:rPr>
              <a:t>- Criação de coluna “Situação”</a:t>
            </a:r>
          </a:p>
          <a:p>
            <a:pPr marL="0" indent="0">
              <a:buNone/>
            </a:pPr>
            <a:r>
              <a:rPr lang="pt-BR" sz="1400" dirty="0">
                <a:solidFill>
                  <a:schemeClr val="accent1"/>
                </a:solidFill>
              </a:rPr>
              <a:t>-  Verificação do número de empresas que gera ou degenera caixa financiamento por ano</a:t>
            </a:r>
          </a:p>
          <a:p>
            <a:pPr marL="0" indent="0">
              <a:buNone/>
            </a:pPr>
            <a:r>
              <a:rPr lang="pt-BR" sz="1400" dirty="0">
                <a:solidFill>
                  <a:schemeClr val="accent1"/>
                </a:solidFill>
              </a:rPr>
              <a:t>- Das 49 empresas restantes, a grande maioria degenera caixa financiamento todos os anos</a:t>
            </a:r>
          </a:p>
          <a:p>
            <a:pPr marL="0" indent="0">
              <a:buNone/>
            </a:pPr>
            <a:r>
              <a:rPr lang="pt-BR" sz="1400" dirty="0">
                <a:solidFill>
                  <a:schemeClr val="accent1"/>
                </a:solidFill>
              </a:rPr>
              <a:t>- Ainda é muito cedo para avaliar as movimentações de financiamento,  mas fica evidente que a maioria das empresas tem gastos consideráveis com juros, amortização, pagamento de dividendos, entre outros</a:t>
            </a:r>
          </a:p>
          <a:p>
            <a:pPr marL="0" indent="0">
              <a:buNone/>
            </a:pPr>
            <a:endParaRPr lang="pt-BR" sz="1400" dirty="0">
              <a:solidFill>
                <a:schemeClr val="accent1"/>
              </a:solidFill>
            </a:endParaRPr>
          </a:p>
        </p:txBody>
      </p:sp>
      <p:pic>
        <p:nvPicPr>
          <p:cNvPr id="4" name="Imagem 3">
            <a:extLst>
              <a:ext uri="{FF2B5EF4-FFF2-40B4-BE49-F238E27FC236}">
                <a16:creationId xmlns:a16="http://schemas.microsoft.com/office/drawing/2014/main" id="{FFAC9398-F2CC-A26C-991E-66362FF3770D}"/>
              </a:ext>
            </a:extLst>
          </p:cNvPr>
          <p:cNvPicPr>
            <a:picLocks noChangeAspect="1"/>
          </p:cNvPicPr>
          <p:nvPr/>
        </p:nvPicPr>
        <p:blipFill>
          <a:blip r:embed="rId3"/>
          <a:stretch>
            <a:fillRect/>
          </a:stretch>
        </p:blipFill>
        <p:spPr>
          <a:xfrm>
            <a:off x="994951" y="3533870"/>
            <a:ext cx="3071568" cy="2926558"/>
          </a:xfrm>
          <a:prstGeom prst="rect">
            <a:avLst/>
          </a:prstGeom>
        </p:spPr>
      </p:pic>
      <p:pic>
        <p:nvPicPr>
          <p:cNvPr id="8" name="Imagem 7">
            <a:extLst>
              <a:ext uri="{FF2B5EF4-FFF2-40B4-BE49-F238E27FC236}">
                <a16:creationId xmlns:a16="http://schemas.microsoft.com/office/drawing/2014/main" id="{C39C7ACD-61D3-2A8A-F3C3-EC6E0A61430E}"/>
              </a:ext>
            </a:extLst>
          </p:cNvPr>
          <p:cNvPicPr>
            <a:picLocks noChangeAspect="1"/>
          </p:cNvPicPr>
          <p:nvPr/>
        </p:nvPicPr>
        <p:blipFill>
          <a:blip r:embed="rId4"/>
          <a:stretch>
            <a:fillRect/>
          </a:stretch>
        </p:blipFill>
        <p:spPr>
          <a:xfrm>
            <a:off x="4497860" y="3265210"/>
            <a:ext cx="7068064" cy="3463877"/>
          </a:xfrm>
          <a:prstGeom prst="rect">
            <a:avLst/>
          </a:prstGeom>
        </p:spPr>
      </p:pic>
    </p:spTree>
    <p:extLst>
      <p:ext uri="{BB962C8B-B14F-4D97-AF65-F5344CB8AC3E}">
        <p14:creationId xmlns:p14="http://schemas.microsoft.com/office/powerpoint/2010/main" val="2394294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703C3-B150-ABF5-8C15-3C32A2FC61AB}"/>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CE55F90F-80AD-312A-2E82-C5921DD455DC}"/>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Análise de Fluxo de Caixa Líquido </a:t>
            </a:r>
          </a:p>
        </p:txBody>
      </p:sp>
      <p:sp>
        <p:nvSpPr>
          <p:cNvPr id="12" name="Subtítulo 2">
            <a:extLst>
              <a:ext uri="{FF2B5EF4-FFF2-40B4-BE49-F238E27FC236}">
                <a16:creationId xmlns:a16="http://schemas.microsoft.com/office/drawing/2014/main" id="{A95880BB-626A-58A4-7A62-00BDFE052684}"/>
              </a:ext>
            </a:extLst>
          </p:cNvPr>
          <p:cNvSpPr txBox="1">
            <a:spLocks/>
          </p:cNvSpPr>
          <p:nvPr/>
        </p:nvSpPr>
        <p:spPr>
          <a:xfrm>
            <a:off x="444842" y="988102"/>
            <a:ext cx="11302316"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Tratamento de dados especial., pois a coluna de valores Net Cash Flow do </a:t>
            </a:r>
            <a:r>
              <a:rPr lang="pt-BR" sz="1400" dirty="0" err="1">
                <a:solidFill>
                  <a:schemeClr val="accent1"/>
                </a:solidFill>
              </a:rPr>
              <a:t>Dataset</a:t>
            </a:r>
            <a:r>
              <a:rPr lang="pt-BR" sz="1400" dirty="0">
                <a:solidFill>
                  <a:schemeClr val="accent1"/>
                </a:solidFill>
              </a:rPr>
              <a:t> estava errada</a:t>
            </a:r>
          </a:p>
          <a:p>
            <a:pPr marL="0" indent="0">
              <a:buNone/>
            </a:pPr>
            <a:r>
              <a:rPr lang="pt-BR" sz="1400" dirty="0">
                <a:solidFill>
                  <a:schemeClr val="accent1"/>
                </a:solidFill>
              </a:rPr>
              <a:t>- Overview por ano</a:t>
            </a:r>
          </a:p>
          <a:p>
            <a:pPr marL="0" indent="0">
              <a:buNone/>
            </a:pPr>
            <a:r>
              <a:rPr lang="pt-BR" sz="1400" dirty="0">
                <a:solidFill>
                  <a:schemeClr val="accent1"/>
                </a:solidFill>
              </a:rPr>
              <a:t>- Criação de coluna “Situação”</a:t>
            </a:r>
          </a:p>
          <a:p>
            <a:pPr marL="0" indent="0">
              <a:buNone/>
            </a:pPr>
            <a:r>
              <a:rPr lang="pt-BR" sz="1400" dirty="0">
                <a:solidFill>
                  <a:schemeClr val="accent1"/>
                </a:solidFill>
              </a:rPr>
              <a:t>-  Verificação do número de empresas que gera ou degenera caixa líquido por ano</a:t>
            </a:r>
          </a:p>
          <a:p>
            <a:pPr marL="0" indent="0">
              <a:buNone/>
            </a:pPr>
            <a:r>
              <a:rPr lang="pt-BR" sz="1400" dirty="0">
                <a:solidFill>
                  <a:schemeClr val="accent1"/>
                </a:solidFill>
              </a:rPr>
              <a:t>- Única parte da DFC que tem equilíbrio entre as empresas que geram ou degeneram caixa líquido (global). Mesmo assim, é necessário consolidar a visualização da DFC, pois a geração global de caixa pode estar sendo acobertada por contração de empréstimos, o que indica necessidade de capital de terceiros para honrar os pagamentos.</a:t>
            </a:r>
          </a:p>
        </p:txBody>
      </p:sp>
      <p:pic>
        <p:nvPicPr>
          <p:cNvPr id="3" name="Imagem 2">
            <a:extLst>
              <a:ext uri="{FF2B5EF4-FFF2-40B4-BE49-F238E27FC236}">
                <a16:creationId xmlns:a16="http://schemas.microsoft.com/office/drawing/2014/main" id="{4C2DEA63-0303-AEC7-7C79-D54D939BFDC2}"/>
              </a:ext>
            </a:extLst>
          </p:cNvPr>
          <p:cNvPicPr>
            <a:picLocks noChangeAspect="1"/>
          </p:cNvPicPr>
          <p:nvPr/>
        </p:nvPicPr>
        <p:blipFill>
          <a:blip r:embed="rId3"/>
          <a:stretch>
            <a:fillRect/>
          </a:stretch>
        </p:blipFill>
        <p:spPr>
          <a:xfrm>
            <a:off x="1271715" y="3720020"/>
            <a:ext cx="2823312" cy="2871990"/>
          </a:xfrm>
          <a:prstGeom prst="rect">
            <a:avLst/>
          </a:prstGeom>
        </p:spPr>
      </p:pic>
      <p:pic>
        <p:nvPicPr>
          <p:cNvPr id="7" name="Imagem 6">
            <a:extLst>
              <a:ext uri="{FF2B5EF4-FFF2-40B4-BE49-F238E27FC236}">
                <a16:creationId xmlns:a16="http://schemas.microsoft.com/office/drawing/2014/main" id="{976AC4E2-8B8C-FCBC-81C3-4B2EBE8E6591}"/>
              </a:ext>
            </a:extLst>
          </p:cNvPr>
          <p:cNvPicPr>
            <a:picLocks noChangeAspect="1"/>
          </p:cNvPicPr>
          <p:nvPr/>
        </p:nvPicPr>
        <p:blipFill>
          <a:blip r:embed="rId4"/>
          <a:stretch>
            <a:fillRect/>
          </a:stretch>
        </p:blipFill>
        <p:spPr>
          <a:xfrm>
            <a:off x="4816360" y="3508598"/>
            <a:ext cx="6561230" cy="3137980"/>
          </a:xfrm>
          <a:prstGeom prst="rect">
            <a:avLst/>
          </a:prstGeom>
        </p:spPr>
      </p:pic>
    </p:spTree>
    <p:extLst>
      <p:ext uri="{BB962C8B-B14F-4D97-AF65-F5344CB8AC3E}">
        <p14:creationId xmlns:p14="http://schemas.microsoft.com/office/powerpoint/2010/main" val="1474445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67737-9D42-3BEE-D296-097869F8D2C8}"/>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85D398B5-EEEB-9F56-8DA0-6CE3B8B7147E}"/>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Consolidação - Lucro e </a:t>
            </a:r>
            <a:r>
              <a:rPr lang="pt-BR" sz="3200" b="1" dirty="0" err="1"/>
              <a:t>dfc</a:t>
            </a:r>
            <a:endParaRPr lang="pt-BR" sz="3200" b="1" dirty="0"/>
          </a:p>
        </p:txBody>
      </p:sp>
      <p:sp>
        <p:nvSpPr>
          <p:cNvPr id="12" name="Subtítulo 2">
            <a:extLst>
              <a:ext uri="{FF2B5EF4-FFF2-40B4-BE49-F238E27FC236}">
                <a16:creationId xmlns:a16="http://schemas.microsoft.com/office/drawing/2014/main" id="{E7239FEA-3EE1-2332-E422-9C40650F527E}"/>
              </a:ext>
            </a:extLst>
          </p:cNvPr>
          <p:cNvSpPr txBox="1">
            <a:spLocks/>
          </p:cNvSpPr>
          <p:nvPr/>
        </p:nvSpPr>
        <p:spPr>
          <a:xfrm>
            <a:off x="444842" y="778986"/>
            <a:ext cx="11302316"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Criação de uma tabela com a empresa, ano,  Lucro,  DFC e Conversão de Lucro</a:t>
            </a:r>
          </a:p>
          <a:p>
            <a:pPr marL="0" indent="0">
              <a:buNone/>
            </a:pPr>
            <a:r>
              <a:rPr lang="pt-BR" sz="1400" dirty="0">
                <a:solidFill>
                  <a:schemeClr val="accent1"/>
                </a:solidFill>
              </a:rPr>
              <a:t>- Fórmula da conversão: </a:t>
            </a:r>
            <a:r>
              <a:rPr lang="pt-BR" sz="1400" dirty="0" err="1">
                <a:solidFill>
                  <a:schemeClr val="accent1"/>
                </a:solidFill>
              </a:rPr>
              <a:t>Operating</a:t>
            </a:r>
            <a:r>
              <a:rPr lang="pt-BR" sz="1400" dirty="0">
                <a:solidFill>
                  <a:schemeClr val="accent1"/>
                </a:solidFill>
              </a:rPr>
              <a:t> Cash Flow / Net income.</a:t>
            </a:r>
          </a:p>
          <a:p>
            <a:pPr marL="0" indent="0">
              <a:buNone/>
            </a:pPr>
            <a:r>
              <a:rPr lang="pt-BR" sz="1400" dirty="0">
                <a:solidFill>
                  <a:schemeClr val="accent1"/>
                </a:solidFill>
              </a:rPr>
              <a:t>- Criação de condição: Conversão de Lucro &gt; 0.</a:t>
            </a:r>
          </a:p>
          <a:p>
            <a:pPr marL="0" indent="0">
              <a:buNone/>
            </a:pPr>
            <a:r>
              <a:rPr lang="pt-BR" sz="1400" dirty="0">
                <a:solidFill>
                  <a:schemeClr val="accent1"/>
                </a:solidFill>
              </a:rPr>
              <a:t>-  Para cumprir os objetivos, começamos por filtrar apenas empresas que convertem lucro em caixa operacional</a:t>
            </a:r>
          </a:p>
          <a:p>
            <a:pPr marL="0" indent="0">
              <a:buNone/>
            </a:pPr>
            <a:r>
              <a:rPr lang="pt-BR" sz="1400" dirty="0">
                <a:solidFill>
                  <a:schemeClr val="accent1"/>
                </a:solidFill>
              </a:rPr>
              <a:t>-  Das 49 empresas restantes, sobraram 40 que convertem lucro em caixa operacional todos os anos</a:t>
            </a:r>
          </a:p>
        </p:txBody>
      </p:sp>
      <p:pic>
        <p:nvPicPr>
          <p:cNvPr id="4" name="Imagem 3">
            <a:extLst>
              <a:ext uri="{FF2B5EF4-FFF2-40B4-BE49-F238E27FC236}">
                <a16:creationId xmlns:a16="http://schemas.microsoft.com/office/drawing/2014/main" id="{1724032B-C9CD-4637-7A79-2D017793117D}"/>
              </a:ext>
            </a:extLst>
          </p:cNvPr>
          <p:cNvPicPr>
            <a:picLocks noChangeAspect="1"/>
          </p:cNvPicPr>
          <p:nvPr/>
        </p:nvPicPr>
        <p:blipFill>
          <a:blip r:embed="rId3"/>
          <a:stretch>
            <a:fillRect/>
          </a:stretch>
        </p:blipFill>
        <p:spPr>
          <a:xfrm>
            <a:off x="2104767" y="3190122"/>
            <a:ext cx="7323438" cy="3446874"/>
          </a:xfrm>
          <a:prstGeom prst="rect">
            <a:avLst/>
          </a:prstGeom>
        </p:spPr>
      </p:pic>
    </p:spTree>
    <p:extLst>
      <p:ext uri="{BB962C8B-B14F-4D97-AF65-F5344CB8AC3E}">
        <p14:creationId xmlns:p14="http://schemas.microsoft.com/office/powerpoint/2010/main" val="945719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0B147-275E-BDB9-2E40-D09C5E7BE44D}"/>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22E1F365-27B6-7316-8779-643C6D8F762F}"/>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Variação ano a ano - De 2019 a 2024</a:t>
            </a:r>
          </a:p>
        </p:txBody>
      </p:sp>
      <p:sp>
        <p:nvSpPr>
          <p:cNvPr id="12" name="Subtítulo 2">
            <a:extLst>
              <a:ext uri="{FF2B5EF4-FFF2-40B4-BE49-F238E27FC236}">
                <a16:creationId xmlns:a16="http://schemas.microsoft.com/office/drawing/2014/main" id="{E12B6683-2FBA-CD8F-62D9-434CC0AC22EC}"/>
              </a:ext>
            </a:extLst>
          </p:cNvPr>
          <p:cNvSpPr txBox="1">
            <a:spLocks/>
          </p:cNvSpPr>
          <p:nvPr/>
        </p:nvSpPr>
        <p:spPr>
          <a:xfrm>
            <a:off x="444842" y="358856"/>
            <a:ext cx="11302316"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Criação de uma coluna com a variação da conversão de lucros ano a ano</a:t>
            </a:r>
          </a:p>
          <a:p>
            <a:pPr marL="0" indent="0">
              <a:buNone/>
            </a:pPr>
            <a:r>
              <a:rPr lang="pt-BR" sz="1400" dirty="0">
                <a:solidFill>
                  <a:schemeClr val="accent1"/>
                </a:solidFill>
              </a:rPr>
              <a:t>- O objetivo era acompanhar a variação de cada empresa em relação ao ano anterior e como era esse comportamento</a:t>
            </a:r>
          </a:p>
        </p:txBody>
      </p:sp>
      <p:pic>
        <p:nvPicPr>
          <p:cNvPr id="3" name="Imagem 2">
            <a:extLst>
              <a:ext uri="{FF2B5EF4-FFF2-40B4-BE49-F238E27FC236}">
                <a16:creationId xmlns:a16="http://schemas.microsoft.com/office/drawing/2014/main" id="{1EF8CD82-04C6-3807-2E2C-5CFB057C5833}"/>
              </a:ext>
            </a:extLst>
          </p:cNvPr>
          <p:cNvPicPr>
            <a:picLocks noChangeAspect="1"/>
          </p:cNvPicPr>
          <p:nvPr/>
        </p:nvPicPr>
        <p:blipFill>
          <a:blip r:embed="rId3"/>
          <a:stretch>
            <a:fillRect/>
          </a:stretch>
        </p:blipFill>
        <p:spPr>
          <a:xfrm>
            <a:off x="3236716" y="2526118"/>
            <a:ext cx="4992884" cy="4069267"/>
          </a:xfrm>
          <a:prstGeom prst="rect">
            <a:avLst/>
          </a:prstGeom>
        </p:spPr>
      </p:pic>
    </p:spTree>
    <p:extLst>
      <p:ext uri="{BB962C8B-B14F-4D97-AF65-F5344CB8AC3E}">
        <p14:creationId xmlns:p14="http://schemas.microsoft.com/office/powerpoint/2010/main" val="2372037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D5360-AF7A-F394-2AC3-723BC0CCE43B}"/>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294DDECD-8D94-3E13-F42F-D30E5C9D0712}"/>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Variação positiva de 2024 em relação a 2023</a:t>
            </a:r>
          </a:p>
        </p:txBody>
      </p:sp>
      <p:sp>
        <p:nvSpPr>
          <p:cNvPr id="12" name="Subtítulo 2">
            <a:extLst>
              <a:ext uri="{FF2B5EF4-FFF2-40B4-BE49-F238E27FC236}">
                <a16:creationId xmlns:a16="http://schemas.microsoft.com/office/drawing/2014/main" id="{026F0D94-7B34-30E0-4034-3B35F28F6A86}"/>
              </a:ext>
            </a:extLst>
          </p:cNvPr>
          <p:cNvSpPr txBox="1">
            <a:spLocks/>
          </p:cNvSpPr>
          <p:nvPr/>
        </p:nvSpPr>
        <p:spPr>
          <a:xfrm>
            <a:off x="444841" y="1112618"/>
            <a:ext cx="6586154" cy="517495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dirty="0">
                <a:solidFill>
                  <a:schemeClr val="accent1"/>
                </a:solidFill>
              </a:rPr>
              <a:t>- Filtragem dos dados para comparar apenas 2023 e 2024</a:t>
            </a:r>
          </a:p>
          <a:p>
            <a:pPr marL="0" indent="0">
              <a:buNone/>
            </a:pPr>
            <a:r>
              <a:rPr lang="pt-BR" dirty="0">
                <a:solidFill>
                  <a:schemeClr val="accent1"/>
                </a:solidFill>
              </a:rPr>
              <a:t>- Criação da condição Variação ano a ano positiva</a:t>
            </a:r>
          </a:p>
          <a:p>
            <a:pPr marL="0" indent="0">
              <a:buNone/>
            </a:pPr>
            <a:r>
              <a:rPr lang="pt-BR" dirty="0">
                <a:solidFill>
                  <a:schemeClr val="accent1"/>
                </a:solidFill>
              </a:rPr>
              <a:t>- Retorno da coluna setor para avaliação</a:t>
            </a:r>
          </a:p>
          <a:p>
            <a:pPr marL="0" indent="0">
              <a:buNone/>
            </a:pPr>
            <a:r>
              <a:rPr lang="pt-BR" dirty="0">
                <a:solidFill>
                  <a:schemeClr val="accent1"/>
                </a:solidFill>
              </a:rPr>
              <a:t>- Das 40 empresas que convertem lucro em caixa operacional todos os anos, apenas 18 variaram positivamente de 2023 para 2024</a:t>
            </a:r>
          </a:p>
          <a:p>
            <a:pPr marL="0" indent="0">
              <a:buNone/>
            </a:pPr>
            <a:r>
              <a:rPr lang="pt-BR" dirty="0">
                <a:solidFill>
                  <a:schemeClr val="accent1"/>
                </a:solidFill>
              </a:rPr>
              <a:t>- Importante ressaltar que o setor Basic </a:t>
            </a:r>
            <a:r>
              <a:rPr lang="pt-BR" dirty="0" err="1">
                <a:solidFill>
                  <a:schemeClr val="accent1"/>
                </a:solidFill>
              </a:rPr>
              <a:t>Materials</a:t>
            </a:r>
            <a:r>
              <a:rPr lang="pt-BR" dirty="0">
                <a:solidFill>
                  <a:schemeClr val="accent1"/>
                </a:solidFill>
              </a:rPr>
              <a:t> não apresenta nenhuma empresa com variação positiva, mesmo sendo o setor lucrativo.</a:t>
            </a:r>
          </a:p>
          <a:p>
            <a:pPr marL="0" indent="0">
              <a:buNone/>
            </a:pPr>
            <a:r>
              <a:rPr lang="pt-BR" dirty="0">
                <a:solidFill>
                  <a:schemeClr val="accent1"/>
                </a:solidFill>
              </a:rPr>
              <a:t>- De forma similar, o setor Financial Services, mesmo tendo o maior número de empresas lucrativas, apresenta apenas duas empresas</a:t>
            </a:r>
          </a:p>
          <a:p>
            <a:pPr marL="0" indent="0">
              <a:buNone/>
            </a:pPr>
            <a:r>
              <a:rPr lang="pt-BR" dirty="0">
                <a:solidFill>
                  <a:schemeClr val="accent1"/>
                </a:solidFill>
              </a:rPr>
              <a:t>- Quase 50% das empresas restantes são do setor de Technology</a:t>
            </a:r>
          </a:p>
        </p:txBody>
      </p:sp>
      <p:pic>
        <p:nvPicPr>
          <p:cNvPr id="4" name="Imagem 3">
            <a:extLst>
              <a:ext uri="{FF2B5EF4-FFF2-40B4-BE49-F238E27FC236}">
                <a16:creationId xmlns:a16="http://schemas.microsoft.com/office/drawing/2014/main" id="{6B678CCA-04FF-58C4-48F9-202696A38E6E}"/>
              </a:ext>
            </a:extLst>
          </p:cNvPr>
          <p:cNvPicPr>
            <a:picLocks noChangeAspect="1"/>
          </p:cNvPicPr>
          <p:nvPr/>
        </p:nvPicPr>
        <p:blipFill>
          <a:blip r:embed="rId3"/>
          <a:stretch>
            <a:fillRect/>
          </a:stretch>
        </p:blipFill>
        <p:spPr>
          <a:xfrm>
            <a:off x="7255732" y="1440763"/>
            <a:ext cx="4161911" cy="5196825"/>
          </a:xfrm>
          <a:prstGeom prst="rect">
            <a:avLst/>
          </a:prstGeom>
        </p:spPr>
      </p:pic>
    </p:spTree>
    <p:extLst>
      <p:ext uri="{BB962C8B-B14F-4D97-AF65-F5344CB8AC3E}">
        <p14:creationId xmlns:p14="http://schemas.microsoft.com/office/powerpoint/2010/main" val="1174007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2EEB0-8A7B-D2E1-BBBE-A362AE29B4B7}"/>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622330F1-8737-017E-CA01-59032C7DDDDE}"/>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Avaliação do Caixa financiamento </a:t>
            </a:r>
          </a:p>
        </p:txBody>
      </p:sp>
      <p:sp>
        <p:nvSpPr>
          <p:cNvPr id="12" name="Subtítulo 2">
            <a:extLst>
              <a:ext uri="{FF2B5EF4-FFF2-40B4-BE49-F238E27FC236}">
                <a16:creationId xmlns:a16="http://schemas.microsoft.com/office/drawing/2014/main" id="{467D3BCF-EF51-307F-EEFC-F644B446CC51}"/>
              </a:ext>
            </a:extLst>
          </p:cNvPr>
          <p:cNvSpPr txBox="1">
            <a:spLocks/>
          </p:cNvSpPr>
          <p:nvPr/>
        </p:nvSpPr>
        <p:spPr>
          <a:xfrm>
            <a:off x="444842" y="1673919"/>
            <a:ext cx="11121083" cy="1215742"/>
          </a:xfrm>
          <a:prstGeom prst="rect">
            <a:avLst/>
          </a:prstGeom>
        </p:spPr>
        <p:txBody>
          <a:bodyPr vert="horz" lIns="91440" tIns="45720" rIns="91440" bIns="45720" rtlCol="0" anchor="ctr">
            <a:normAutofit fontScale="92500"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Composição do FCF:  </a:t>
            </a:r>
            <a:r>
              <a:rPr lang="en-US" sz="1400" dirty="0">
                <a:solidFill>
                  <a:schemeClr val="accent1"/>
                </a:solidFill>
              </a:rPr>
              <a:t>Dividends Paid, Share Issuance / Repurchase, Debt Issued / Paid, Other Financing Activities</a:t>
            </a:r>
            <a:endParaRPr lang="pt-BR" sz="1400" dirty="0">
              <a:solidFill>
                <a:schemeClr val="accent1"/>
              </a:solidFill>
            </a:endParaRPr>
          </a:p>
          <a:p>
            <a:pPr marL="0" indent="0">
              <a:buNone/>
            </a:pPr>
            <a:r>
              <a:rPr lang="pt-BR" sz="1400" dirty="0">
                <a:solidFill>
                  <a:schemeClr val="accent1"/>
                </a:solidFill>
              </a:rPr>
              <a:t>- Filtragem dos dados para retornar apenas empresas que pagaram dividendos em 2024</a:t>
            </a:r>
          </a:p>
          <a:p>
            <a:pPr marL="0" indent="0">
              <a:buNone/>
            </a:pPr>
            <a:r>
              <a:rPr lang="pt-BR" sz="1400" dirty="0">
                <a:solidFill>
                  <a:schemeClr val="accent1"/>
                </a:solidFill>
              </a:rPr>
              <a:t>- Condição: </a:t>
            </a:r>
            <a:r>
              <a:rPr lang="pt-BR" sz="1400" dirty="0" err="1">
                <a:solidFill>
                  <a:schemeClr val="accent1"/>
                </a:solidFill>
              </a:rPr>
              <a:t>Dividends</a:t>
            </a:r>
            <a:r>
              <a:rPr lang="pt-BR" sz="1400" dirty="0">
                <a:solidFill>
                  <a:schemeClr val="accent1"/>
                </a:solidFill>
              </a:rPr>
              <a:t> </a:t>
            </a:r>
            <a:r>
              <a:rPr lang="pt-BR" sz="1400" dirty="0" err="1">
                <a:solidFill>
                  <a:schemeClr val="accent1"/>
                </a:solidFill>
              </a:rPr>
              <a:t>Paid</a:t>
            </a:r>
            <a:r>
              <a:rPr lang="pt-BR" sz="1400" dirty="0">
                <a:solidFill>
                  <a:schemeClr val="accent1"/>
                </a:solidFill>
              </a:rPr>
              <a:t> &lt; 0</a:t>
            </a:r>
          </a:p>
          <a:p>
            <a:pPr marL="0" indent="0">
              <a:buNone/>
            </a:pPr>
            <a:r>
              <a:rPr lang="pt-BR" sz="1400" dirty="0">
                <a:solidFill>
                  <a:schemeClr val="accent1"/>
                </a:solidFill>
              </a:rPr>
              <a:t>- Restaram 15 empresas</a:t>
            </a:r>
          </a:p>
        </p:txBody>
      </p:sp>
      <p:pic>
        <p:nvPicPr>
          <p:cNvPr id="7" name="Imagem 6">
            <a:extLst>
              <a:ext uri="{FF2B5EF4-FFF2-40B4-BE49-F238E27FC236}">
                <a16:creationId xmlns:a16="http://schemas.microsoft.com/office/drawing/2014/main" id="{21FDC048-109F-7EFB-5BFA-40EE5D5576F2}"/>
              </a:ext>
            </a:extLst>
          </p:cNvPr>
          <p:cNvPicPr>
            <a:picLocks noChangeAspect="1"/>
          </p:cNvPicPr>
          <p:nvPr/>
        </p:nvPicPr>
        <p:blipFill>
          <a:blip r:embed="rId3"/>
          <a:stretch>
            <a:fillRect/>
          </a:stretch>
        </p:blipFill>
        <p:spPr>
          <a:xfrm>
            <a:off x="2446434" y="2974235"/>
            <a:ext cx="6759552" cy="3738221"/>
          </a:xfrm>
          <a:prstGeom prst="rect">
            <a:avLst/>
          </a:prstGeom>
        </p:spPr>
      </p:pic>
      <p:sp>
        <p:nvSpPr>
          <p:cNvPr id="8" name="Subtítulo 2">
            <a:extLst>
              <a:ext uri="{FF2B5EF4-FFF2-40B4-BE49-F238E27FC236}">
                <a16:creationId xmlns:a16="http://schemas.microsoft.com/office/drawing/2014/main" id="{3ADCBA73-9100-6ED1-CB29-D4D2C06B1A0F}"/>
              </a:ext>
            </a:extLst>
          </p:cNvPr>
          <p:cNvSpPr txBox="1">
            <a:spLocks/>
          </p:cNvSpPr>
          <p:nvPr/>
        </p:nvSpPr>
        <p:spPr>
          <a:xfrm>
            <a:off x="444842" y="1329477"/>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2400" dirty="0">
              <a:solidFill>
                <a:srgbClr val="7CEBFF"/>
              </a:solidFill>
            </a:endParaRPr>
          </a:p>
          <a:p>
            <a:endParaRPr lang="pt-BR" dirty="0">
              <a:solidFill>
                <a:srgbClr val="7CEBFF"/>
              </a:solidFill>
            </a:endParaRPr>
          </a:p>
        </p:txBody>
      </p:sp>
      <p:sp>
        <p:nvSpPr>
          <p:cNvPr id="9" name="Subtítulo 2">
            <a:extLst>
              <a:ext uri="{FF2B5EF4-FFF2-40B4-BE49-F238E27FC236}">
                <a16:creationId xmlns:a16="http://schemas.microsoft.com/office/drawing/2014/main" id="{CE39565A-0714-E5EF-0E7F-60635E34222D}"/>
              </a:ext>
            </a:extLst>
          </p:cNvPr>
          <p:cNvSpPr txBox="1">
            <a:spLocks/>
          </p:cNvSpPr>
          <p:nvPr/>
        </p:nvSpPr>
        <p:spPr>
          <a:xfrm>
            <a:off x="444842" y="1290824"/>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2400" dirty="0">
                <a:solidFill>
                  <a:schemeClr val="accent1">
                    <a:lumMod val="60000"/>
                    <a:lumOff val="40000"/>
                  </a:schemeClr>
                </a:solidFill>
              </a:rPr>
              <a:t>Avaliação das empresas restantes e como o seu FCF se comporta</a:t>
            </a:r>
          </a:p>
          <a:p>
            <a:endParaRPr lang="pt-BR" dirty="0">
              <a:solidFill>
                <a:srgbClr val="7CEBFF"/>
              </a:solidFill>
            </a:endParaRPr>
          </a:p>
        </p:txBody>
      </p:sp>
    </p:spTree>
    <p:extLst>
      <p:ext uri="{BB962C8B-B14F-4D97-AF65-F5344CB8AC3E}">
        <p14:creationId xmlns:p14="http://schemas.microsoft.com/office/powerpoint/2010/main" val="1520903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EFA78-CAD6-4018-F54A-20870F1C4EF1}"/>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F47F91E6-59C8-1932-0820-764948AD2ECB}"/>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FCF - </a:t>
            </a:r>
            <a:r>
              <a:rPr lang="pt-BR" sz="3200" b="1" dirty="0" err="1"/>
              <a:t>Debt</a:t>
            </a:r>
            <a:r>
              <a:rPr lang="pt-BR" sz="3200" b="1" dirty="0"/>
              <a:t> </a:t>
            </a:r>
            <a:r>
              <a:rPr lang="pt-BR" sz="3200" b="1" dirty="0" err="1"/>
              <a:t>Issued</a:t>
            </a:r>
            <a:r>
              <a:rPr lang="pt-BR" sz="3200" b="1" dirty="0"/>
              <a:t> / </a:t>
            </a:r>
            <a:r>
              <a:rPr lang="pt-BR" sz="3200" b="1" dirty="0" err="1"/>
              <a:t>Paid</a:t>
            </a:r>
            <a:r>
              <a:rPr lang="pt-BR" sz="3200" b="1" dirty="0"/>
              <a:t> </a:t>
            </a:r>
          </a:p>
        </p:txBody>
      </p:sp>
      <p:sp>
        <p:nvSpPr>
          <p:cNvPr id="12" name="Subtítulo 2">
            <a:extLst>
              <a:ext uri="{FF2B5EF4-FFF2-40B4-BE49-F238E27FC236}">
                <a16:creationId xmlns:a16="http://schemas.microsoft.com/office/drawing/2014/main" id="{7A8D0AF2-DBDE-EB05-6C37-EBF854A13C33}"/>
              </a:ext>
            </a:extLst>
          </p:cNvPr>
          <p:cNvSpPr txBox="1">
            <a:spLocks/>
          </p:cNvSpPr>
          <p:nvPr/>
        </p:nvSpPr>
        <p:spPr>
          <a:xfrm>
            <a:off x="444842" y="1494446"/>
            <a:ext cx="11121083" cy="188946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Observou-se que a empresa com maior dívida paga também desembolsou muitos recursos para recomprar ações, resultando em menor volume de pagamento de dividendos.</a:t>
            </a:r>
          </a:p>
          <a:p>
            <a:pPr marL="0" indent="0">
              <a:buNone/>
            </a:pPr>
            <a:r>
              <a:rPr lang="pt-BR" sz="1400" dirty="0">
                <a:solidFill>
                  <a:schemeClr val="accent1"/>
                </a:solidFill>
              </a:rPr>
              <a:t>- A empresa com maior dívida emitida gastou muito com dividendos e recompra de ações, demonstrando uma necessidade pontual (ou não) de empréstimos</a:t>
            </a:r>
          </a:p>
          <a:p>
            <a:pPr marL="0" indent="0">
              <a:buNone/>
            </a:pPr>
            <a:r>
              <a:rPr lang="pt-BR" sz="1400" dirty="0">
                <a:solidFill>
                  <a:schemeClr val="accent1"/>
                </a:solidFill>
              </a:rPr>
              <a:t>- Os dois polos da dívida foram desconsiderados da análise ao demonstrarem comprometimento considerável com capital de terceiros.</a:t>
            </a:r>
          </a:p>
          <a:p>
            <a:pPr marL="0" indent="0">
              <a:buNone/>
            </a:pPr>
            <a:r>
              <a:rPr lang="pt-BR" sz="1400" dirty="0">
                <a:solidFill>
                  <a:schemeClr val="accent1"/>
                </a:solidFill>
              </a:rPr>
              <a:t>-  Sendo assim, restaram 12 empresas.  </a:t>
            </a:r>
            <a:r>
              <a:rPr lang="pt-BR" sz="1400" dirty="0" err="1">
                <a:solidFill>
                  <a:schemeClr val="accent1"/>
                </a:solidFill>
              </a:rPr>
              <a:t>Dataframe</a:t>
            </a:r>
            <a:r>
              <a:rPr lang="pt-BR" sz="1400" dirty="0">
                <a:solidFill>
                  <a:schemeClr val="accent1"/>
                </a:solidFill>
              </a:rPr>
              <a:t> final disponível na pasta Arquivos</a:t>
            </a:r>
          </a:p>
        </p:txBody>
      </p:sp>
      <p:sp>
        <p:nvSpPr>
          <p:cNvPr id="8" name="Subtítulo 2">
            <a:extLst>
              <a:ext uri="{FF2B5EF4-FFF2-40B4-BE49-F238E27FC236}">
                <a16:creationId xmlns:a16="http://schemas.microsoft.com/office/drawing/2014/main" id="{69AD8A43-B1EB-6692-0BAE-8CF2FDCD27E1}"/>
              </a:ext>
            </a:extLst>
          </p:cNvPr>
          <p:cNvSpPr txBox="1">
            <a:spLocks/>
          </p:cNvSpPr>
          <p:nvPr/>
        </p:nvSpPr>
        <p:spPr>
          <a:xfrm>
            <a:off x="444842" y="1329477"/>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2400" dirty="0">
              <a:solidFill>
                <a:srgbClr val="7CEBFF"/>
              </a:solidFill>
            </a:endParaRPr>
          </a:p>
          <a:p>
            <a:endParaRPr lang="pt-BR" dirty="0">
              <a:solidFill>
                <a:srgbClr val="7CEBFF"/>
              </a:solidFill>
            </a:endParaRPr>
          </a:p>
        </p:txBody>
      </p:sp>
      <p:sp>
        <p:nvSpPr>
          <p:cNvPr id="9" name="Subtítulo 2">
            <a:extLst>
              <a:ext uri="{FF2B5EF4-FFF2-40B4-BE49-F238E27FC236}">
                <a16:creationId xmlns:a16="http://schemas.microsoft.com/office/drawing/2014/main" id="{F3765106-15C3-10C6-51F1-6C5911E453F1}"/>
              </a:ext>
            </a:extLst>
          </p:cNvPr>
          <p:cNvSpPr txBox="1">
            <a:spLocks/>
          </p:cNvSpPr>
          <p:nvPr/>
        </p:nvSpPr>
        <p:spPr>
          <a:xfrm>
            <a:off x="444842" y="1290824"/>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2400" dirty="0">
                <a:solidFill>
                  <a:schemeClr val="accent1">
                    <a:lumMod val="60000"/>
                    <a:lumOff val="40000"/>
                  </a:schemeClr>
                </a:solidFill>
              </a:rPr>
              <a:t>Avaliação da dívida paga ou emitida</a:t>
            </a:r>
          </a:p>
          <a:p>
            <a:endParaRPr lang="pt-BR" dirty="0">
              <a:solidFill>
                <a:srgbClr val="7CEBFF"/>
              </a:solidFill>
            </a:endParaRPr>
          </a:p>
        </p:txBody>
      </p:sp>
      <p:pic>
        <p:nvPicPr>
          <p:cNvPr id="14" name="Imagem 13">
            <a:extLst>
              <a:ext uri="{FF2B5EF4-FFF2-40B4-BE49-F238E27FC236}">
                <a16:creationId xmlns:a16="http://schemas.microsoft.com/office/drawing/2014/main" id="{DE7677FD-2708-F520-1FF0-DE2757028791}"/>
              </a:ext>
            </a:extLst>
          </p:cNvPr>
          <p:cNvPicPr>
            <a:picLocks noChangeAspect="1"/>
          </p:cNvPicPr>
          <p:nvPr/>
        </p:nvPicPr>
        <p:blipFill>
          <a:blip r:embed="rId3"/>
          <a:stretch>
            <a:fillRect/>
          </a:stretch>
        </p:blipFill>
        <p:spPr>
          <a:xfrm>
            <a:off x="2314317" y="3422563"/>
            <a:ext cx="7209133" cy="3435437"/>
          </a:xfrm>
          <a:prstGeom prst="rect">
            <a:avLst/>
          </a:prstGeom>
        </p:spPr>
      </p:pic>
    </p:spTree>
    <p:extLst>
      <p:ext uri="{BB962C8B-B14F-4D97-AF65-F5344CB8AC3E}">
        <p14:creationId xmlns:p14="http://schemas.microsoft.com/office/powerpoint/2010/main" val="96155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37353-CB98-5B02-C6F2-C2EA317AE9F8}"/>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3C394310-BC57-3797-E3A2-952869F3F053}"/>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err="1"/>
              <a:t>Datraframe</a:t>
            </a:r>
            <a:r>
              <a:rPr lang="pt-BR" sz="3200" b="1" dirty="0"/>
              <a:t> final</a:t>
            </a:r>
          </a:p>
        </p:txBody>
      </p:sp>
      <p:sp>
        <p:nvSpPr>
          <p:cNvPr id="12" name="Subtítulo 2">
            <a:extLst>
              <a:ext uri="{FF2B5EF4-FFF2-40B4-BE49-F238E27FC236}">
                <a16:creationId xmlns:a16="http://schemas.microsoft.com/office/drawing/2014/main" id="{94DD9CB5-E4B7-4EAE-1916-90BE553A2681}"/>
              </a:ext>
            </a:extLst>
          </p:cNvPr>
          <p:cNvSpPr txBox="1">
            <a:spLocks/>
          </p:cNvSpPr>
          <p:nvPr/>
        </p:nvSpPr>
        <p:spPr>
          <a:xfrm>
            <a:off x="444842" y="1136099"/>
            <a:ext cx="11121083" cy="188946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A avaliação final envolvendo as análises de lucro e DFC passou por um último crivo:  Fluxo de Caixa Líquido positivo</a:t>
            </a:r>
          </a:p>
          <a:p>
            <a:pPr marL="0" indent="0">
              <a:buNone/>
            </a:pPr>
            <a:r>
              <a:rPr lang="pt-BR" sz="1400" dirty="0">
                <a:solidFill>
                  <a:schemeClr val="accent1"/>
                </a:solidFill>
              </a:rPr>
              <a:t>- Desta forma, sobraram 11 empresas que lucraram todos os anos, converteram o lucro em caixa operacional,  apresentaram caixa financiamento equilibrado,  mesmo </a:t>
            </a:r>
            <a:r>
              <a:rPr lang="pt-BR" sz="1400">
                <a:solidFill>
                  <a:schemeClr val="accent1"/>
                </a:solidFill>
              </a:rPr>
              <a:t>pagando dividendos, </a:t>
            </a:r>
            <a:r>
              <a:rPr lang="pt-BR" sz="1400" dirty="0">
                <a:solidFill>
                  <a:schemeClr val="accent1"/>
                </a:solidFill>
              </a:rPr>
              <a:t>e geraram caixa global em 2024. </a:t>
            </a:r>
          </a:p>
          <a:p>
            <a:pPr marL="0" indent="0">
              <a:buNone/>
            </a:pPr>
            <a:r>
              <a:rPr lang="pt-BR" sz="1400" dirty="0">
                <a:solidFill>
                  <a:schemeClr val="accent1"/>
                </a:solidFill>
              </a:rPr>
              <a:t>- Quase 40% das empresas da lista final eram do setor de Technology</a:t>
            </a:r>
          </a:p>
        </p:txBody>
      </p:sp>
      <p:sp>
        <p:nvSpPr>
          <p:cNvPr id="8" name="Subtítulo 2">
            <a:extLst>
              <a:ext uri="{FF2B5EF4-FFF2-40B4-BE49-F238E27FC236}">
                <a16:creationId xmlns:a16="http://schemas.microsoft.com/office/drawing/2014/main" id="{B130829C-249F-E6FD-D95D-F7353130EA5C}"/>
              </a:ext>
            </a:extLst>
          </p:cNvPr>
          <p:cNvSpPr txBox="1">
            <a:spLocks/>
          </p:cNvSpPr>
          <p:nvPr/>
        </p:nvSpPr>
        <p:spPr>
          <a:xfrm>
            <a:off x="444842" y="1329477"/>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2400" dirty="0">
              <a:solidFill>
                <a:srgbClr val="7CEBFF"/>
              </a:solidFill>
            </a:endParaRPr>
          </a:p>
          <a:p>
            <a:endParaRPr lang="pt-BR" dirty="0">
              <a:solidFill>
                <a:srgbClr val="7CEBFF"/>
              </a:solidFill>
            </a:endParaRPr>
          </a:p>
        </p:txBody>
      </p:sp>
      <p:pic>
        <p:nvPicPr>
          <p:cNvPr id="3" name="Imagem 2">
            <a:extLst>
              <a:ext uri="{FF2B5EF4-FFF2-40B4-BE49-F238E27FC236}">
                <a16:creationId xmlns:a16="http://schemas.microsoft.com/office/drawing/2014/main" id="{FCF0B516-8E4C-971F-72C6-556F298C89A4}"/>
              </a:ext>
            </a:extLst>
          </p:cNvPr>
          <p:cNvPicPr>
            <a:picLocks noChangeAspect="1"/>
          </p:cNvPicPr>
          <p:nvPr/>
        </p:nvPicPr>
        <p:blipFill>
          <a:blip r:embed="rId3"/>
          <a:stretch>
            <a:fillRect/>
          </a:stretch>
        </p:blipFill>
        <p:spPr>
          <a:xfrm>
            <a:off x="1906029" y="2887678"/>
            <a:ext cx="7969970" cy="3662966"/>
          </a:xfrm>
          <a:prstGeom prst="rect">
            <a:avLst/>
          </a:prstGeom>
        </p:spPr>
      </p:pic>
    </p:spTree>
    <p:extLst>
      <p:ext uri="{BB962C8B-B14F-4D97-AF65-F5344CB8AC3E}">
        <p14:creationId xmlns:p14="http://schemas.microsoft.com/office/powerpoint/2010/main" val="2715163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D5EF7-C86D-F0A6-75F1-2154256C4341}"/>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2C55EC16-7F78-D61F-5E2C-B4BC64BBD92E}"/>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Conexão API da </a:t>
            </a:r>
            <a:r>
              <a:rPr lang="pt-BR" sz="3200" b="1" dirty="0" err="1"/>
              <a:t>markestack</a:t>
            </a:r>
            <a:r>
              <a:rPr lang="pt-BR" sz="3200" b="1" dirty="0"/>
              <a:t> – </a:t>
            </a:r>
            <a:r>
              <a:rPr lang="pt-BR" sz="3200" b="1" dirty="0" err="1"/>
              <a:t>pt</a:t>
            </a:r>
            <a:r>
              <a:rPr lang="pt-BR" sz="3200" b="1" dirty="0"/>
              <a:t> 1</a:t>
            </a:r>
          </a:p>
        </p:txBody>
      </p:sp>
      <p:sp>
        <p:nvSpPr>
          <p:cNvPr id="12" name="Subtítulo 2">
            <a:extLst>
              <a:ext uri="{FF2B5EF4-FFF2-40B4-BE49-F238E27FC236}">
                <a16:creationId xmlns:a16="http://schemas.microsoft.com/office/drawing/2014/main" id="{0E6C7151-D954-124C-7261-752124ABD8F3}"/>
              </a:ext>
            </a:extLst>
          </p:cNvPr>
          <p:cNvSpPr txBox="1">
            <a:spLocks/>
          </p:cNvSpPr>
          <p:nvPr/>
        </p:nvSpPr>
        <p:spPr>
          <a:xfrm>
            <a:off x="400729" y="1462444"/>
            <a:ext cx="11390541" cy="1889464"/>
          </a:xfrm>
          <a:prstGeom prst="rect">
            <a:avLst/>
          </a:prstGeom>
        </p:spPr>
        <p:txBody>
          <a:bodyPr vert="horz" lIns="91440" tIns="45720" rIns="91440" bIns="45720" rtlCol="0" anchor="ctr">
            <a:normAutofit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A conexão à API da </a:t>
            </a:r>
            <a:r>
              <a:rPr lang="pt-BR" sz="1400" dirty="0" err="1">
                <a:solidFill>
                  <a:schemeClr val="accent1"/>
                </a:solidFill>
              </a:rPr>
              <a:t>Marketstack</a:t>
            </a:r>
            <a:r>
              <a:rPr lang="pt-BR" sz="1400" dirty="0">
                <a:solidFill>
                  <a:schemeClr val="accent1"/>
                </a:solidFill>
              </a:rPr>
              <a:t> objetivou a extração de mais informações sobre as empresas, como nome completo, bolsa que opera, nome do segmento do setor de atuação e valores de abertura e fechamento das ações das mesmas.</a:t>
            </a:r>
          </a:p>
          <a:p>
            <a:pPr marL="0" indent="0">
              <a:buNone/>
            </a:pPr>
            <a:r>
              <a:rPr lang="pt-BR" sz="1400" dirty="0">
                <a:solidFill>
                  <a:schemeClr val="accent1"/>
                </a:solidFill>
              </a:rPr>
              <a:t>- Para tal foi escolhida a API de </a:t>
            </a:r>
            <a:r>
              <a:rPr lang="pt-BR" sz="1400" dirty="0" err="1">
                <a:solidFill>
                  <a:schemeClr val="accent1"/>
                </a:solidFill>
              </a:rPr>
              <a:t>Historical</a:t>
            </a:r>
            <a:r>
              <a:rPr lang="pt-BR" sz="1400" dirty="0">
                <a:solidFill>
                  <a:schemeClr val="accent1"/>
                </a:solidFill>
              </a:rPr>
              <a:t> Data com os valores históricos das ações em determinado período de 2024, entre 01/07 e 05/07.</a:t>
            </a:r>
          </a:p>
          <a:p>
            <a:pPr marL="0" indent="0">
              <a:buNone/>
            </a:pPr>
            <a:r>
              <a:rPr lang="pt-BR" sz="1400" dirty="0">
                <a:solidFill>
                  <a:schemeClr val="accent1"/>
                </a:solidFill>
              </a:rPr>
              <a:t>- Infelizmente o retorno da API não foi completo e algumas informações requisitadas não foram retornadas.  Desta forma, um novo </a:t>
            </a:r>
            <a:r>
              <a:rPr lang="pt-BR" sz="1400" dirty="0" err="1">
                <a:solidFill>
                  <a:schemeClr val="accent1"/>
                </a:solidFill>
              </a:rPr>
              <a:t>endpoint</a:t>
            </a:r>
            <a:r>
              <a:rPr lang="pt-BR" sz="1400" dirty="0">
                <a:solidFill>
                  <a:schemeClr val="accent1"/>
                </a:solidFill>
              </a:rPr>
              <a:t> da API (</a:t>
            </a:r>
            <a:r>
              <a:rPr lang="pt-BR" sz="1400" dirty="0" err="1">
                <a:solidFill>
                  <a:schemeClr val="accent1"/>
                </a:solidFill>
              </a:rPr>
              <a:t>Tickers</a:t>
            </a:r>
            <a:r>
              <a:rPr lang="pt-BR" sz="1400" dirty="0">
                <a:solidFill>
                  <a:schemeClr val="accent1"/>
                </a:solidFill>
              </a:rPr>
              <a:t>) foi consultado, desta vez para retornar informações mais completas sobre as empresas.</a:t>
            </a:r>
          </a:p>
          <a:p>
            <a:pPr marL="0" indent="0">
              <a:buNone/>
            </a:pPr>
            <a:r>
              <a:rPr lang="pt-BR" sz="1400" dirty="0">
                <a:solidFill>
                  <a:schemeClr val="accent1"/>
                </a:solidFill>
              </a:rPr>
              <a:t>- Com os tratamentos adequados foi possível fazer um “</a:t>
            </a:r>
            <a:r>
              <a:rPr lang="pt-BR" sz="1400" dirty="0" err="1">
                <a:solidFill>
                  <a:schemeClr val="accent1"/>
                </a:solidFill>
              </a:rPr>
              <a:t>Procv</a:t>
            </a:r>
            <a:r>
              <a:rPr lang="pt-BR" sz="1400" dirty="0">
                <a:solidFill>
                  <a:schemeClr val="accent1"/>
                </a:solidFill>
              </a:rPr>
              <a:t>” das empresas selecionadas nas análises com a requisição da API. Códigos dentro do </a:t>
            </a:r>
            <a:r>
              <a:rPr lang="pt-BR" sz="1400" dirty="0" err="1">
                <a:solidFill>
                  <a:schemeClr val="accent1"/>
                </a:solidFill>
              </a:rPr>
              <a:t>jupyter</a:t>
            </a:r>
            <a:r>
              <a:rPr lang="pt-BR" sz="1400" dirty="0">
                <a:solidFill>
                  <a:schemeClr val="accent1"/>
                </a:solidFill>
              </a:rPr>
              <a:t> notebook</a:t>
            </a:r>
          </a:p>
          <a:p>
            <a:pPr marL="0" indent="0">
              <a:buNone/>
            </a:pPr>
            <a:endParaRPr lang="pt-BR" sz="1400" dirty="0">
              <a:solidFill>
                <a:schemeClr val="accent1"/>
              </a:solidFill>
            </a:endParaRPr>
          </a:p>
        </p:txBody>
      </p:sp>
      <p:sp>
        <p:nvSpPr>
          <p:cNvPr id="8" name="Subtítulo 2">
            <a:extLst>
              <a:ext uri="{FF2B5EF4-FFF2-40B4-BE49-F238E27FC236}">
                <a16:creationId xmlns:a16="http://schemas.microsoft.com/office/drawing/2014/main" id="{9A53A8AB-4DDA-FAC1-0624-48F062A24D67}"/>
              </a:ext>
            </a:extLst>
          </p:cNvPr>
          <p:cNvSpPr txBox="1">
            <a:spLocks/>
          </p:cNvSpPr>
          <p:nvPr/>
        </p:nvSpPr>
        <p:spPr>
          <a:xfrm>
            <a:off x="444842" y="1329477"/>
            <a:ext cx="10429102" cy="685178"/>
          </a:xfrm>
          <a:prstGeom prst="rect">
            <a:avLst/>
          </a:prstGeom>
        </p:spPr>
        <p:txBody>
          <a:bodyPr vert="horz" lIns="91440" tIns="45720" rIns="91440" bIns="45720" rtlCol="0" anchor="ctr">
            <a:normAutofit fontScale="850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2400" dirty="0">
              <a:solidFill>
                <a:srgbClr val="7CEBFF"/>
              </a:solidFill>
            </a:endParaRPr>
          </a:p>
          <a:p>
            <a:pPr marL="0" indent="0">
              <a:buNone/>
            </a:pPr>
            <a:r>
              <a:rPr lang="pt-BR" dirty="0">
                <a:solidFill>
                  <a:srgbClr val="7CEBFF"/>
                </a:solidFill>
              </a:rPr>
              <a:t> </a:t>
            </a:r>
          </a:p>
        </p:txBody>
      </p:sp>
      <p:pic>
        <p:nvPicPr>
          <p:cNvPr id="6" name="Imagem 5">
            <a:extLst>
              <a:ext uri="{FF2B5EF4-FFF2-40B4-BE49-F238E27FC236}">
                <a16:creationId xmlns:a16="http://schemas.microsoft.com/office/drawing/2014/main" id="{43861DC3-61F7-FF9B-90B0-A6A8E75BF1B6}"/>
              </a:ext>
            </a:extLst>
          </p:cNvPr>
          <p:cNvPicPr>
            <a:picLocks noChangeAspect="1"/>
          </p:cNvPicPr>
          <p:nvPr/>
        </p:nvPicPr>
        <p:blipFill>
          <a:blip r:embed="rId3"/>
          <a:stretch>
            <a:fillRect/>
          </a:stretch>
        </p:blipFill>
        <p:spPr>
          <a:xfrm>
            <a:off x="564937" y="3649669"/>
            <a:ext cx="4295344" cy="2923345"/>
          </a:xfrm>
          <a:prstGeom prst="rect">
            <a:avLst/>
          </a:prstGeom>
        </p:spPr>
      </p:pic>
      <p:sp>
        <p:nvSpPr>
          <p:cNvPr id="7" name="Subtítulo 2">
            <a:extLst>
              <a:ext uri="{FF2B5EF4-FFF2-40B4-BE49-F238E27FC236}">
                <a16:creationId xmlns:a16="http://schemas.microsoft.com/office/drawing/2014/main" id="{927AA24B-53C8-D207-0598-1AFC159325EC}"/>
              </a:ext>
            </a:extLst>
          </p:cNvPr>
          <p:cNvSpPr txBox="1">
            <a:spLocks/>
          </p:cNvSpPr>
          <p:nvPr/>
        </p:nvSpPr>
        <p:spPr>
          <a:xfrm>
            <a:off x="1755302" y="3463508"/>
            <a:ext cx="3681670" cy="112790"/>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i="1" dirty="0">
                <a:solidFill>
                  <a:schemeClr val="accent1"/>
                </a:solidFill>
              </a:rPr>
              <a:t>API de </a:t>
            </a:r>
            <a:r>
              <a:rPr lang="pt-BR" sz="1400" i="1" dirty="0" err="1">
                <a:solidFill>
                  <a:schemeClr val="accent1"/>
                </a:solidFill>
              </a:rPr>
              <a:t>Historical</a:t>
            </a:r>
            <a:r>
              <a:rPr lang="pt-BR" sz="1400" i="1" dirty="0">
                <a:solidFill>
                  <a:schemeClr val="accent1"/>
                </a:solidFill>
              </a:rPr>
              <a:t> Data</a:t>
            </a:r>
          </a:p>
          <a:p>
            <a:endParaRPr lang="pt-BR" sz="1000" i="1" dirty="0">
              <a:solidFill>
                <a:srgbClr val="7CEBFF"/>
              </a:solidFill>
            </a:endParaRPr>
          </a:p>
        </p:txBody>
      </p:sp>
      <p:pic>
        <p:nvPicPr>
          <p:cNvPr id="10" name="Imagem 9">
            <a:extLst>
              <a:ext uri="{FF2B5EF4-FFF2-40B4-BE49-F238E27FC236}">
                <a16:creationId xmlns:a16="http://schemas.microsoft.com/office/drawing/2014/main" id="{3C8E3819-84BA-1395-C61E-7A08DE3AB635}"/>
              </a:ext>
            </a:extLst>
          </p:cNvPr>
          <p:cNvPicPr>
            <a:picLocks noChangeAspect="1"/>
          </p:cNvPicPr>
          <p:nvPr/>
        </p:nvPicPr>
        <p:blipFill>
          <a:blip r:embed="rId4"/>
          <a:stretch>
            <a:fillRect/>
          </a:stretch>
        </p:blipFill>
        <p:spPr>
          <a:xfrm>
            <a:off x="5259089" y="3649669"/>
            <a:ext cx="6576294" cy="2254037"/>
          </a:xfrm>
          <a:prstGeom prst="rect">
            <a:avLst/>
          </a:prstGeom>
        </p:spPr>
      </p:pic>
      <p:sp>
        <p:nvSpPr>
          <p:cNvPr id="14" name="Subtítulo 2">
            <a:extLst>
              <a:ext uri="{FF2B5EF4-FFF2-40B4-BE49-F238E27FC236}">
                <a16:creationId xmlns:a16="http://schemas.microsoft.com/office/drawing/2014/main" id="{C3E1A297-0EB6-1DF0-CCB1-923BDDB9F09D}"/>
              </a:ext>
            </a:extLst>
          </p:cNvPr>
          <p:cNvSpPr txBox="1">
            <a:spLocks/>
          </p:cNvSpPr>
          <p:nvPr/>
        </p:nvSpPr>
        <p:spPr>
          <a:xfrm>
            <a:off x="7966635" y="3351908"/>
            <a:ext cx="3681670" cy="112790"/>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i="1" dirty="0">
                <a:solidFill>
                  <a:schemeClr val="accent1"/>
                </a:solidFill>
              </a:rPr>
              <a:t>API de </a:t>
            </a:r>
            <a:r>
              <a:rPr lang="pt-BR" sz="1400" i="1" dirty="0" err="1">
                <a:solidFill>
                  <a:schemeClr val="accent1"/>
                </a:solidFill>
              </a:rPr>
              <a:t>Tickers</a:t>
            </a:r>
            <a:endParaRPr lang="pt-BR" sz="1400" i="1" dirty="0">
              <a:solidFill>
                <a:schemeClr val="accent1"/>
              </a:solidFill>
            </a:endParaRPr>
          </a:p>
        </p:txBody>
      </p:sp>
    </p:spTree>
    <p:extLst>
      <p:ext uri="{BB962C8B-B14F-4D97-AF65-F5344CB8AC3E}">
        <p14:creationId xmlns:p14="http://schemas.microsoft.com/office/powerpoint/2010/main" val="29041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4CCF0-4EE7-2811-1471-BC96314BC324}"/>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0EFCC80C-2D4D-0C1C-E58D-32B49D73BBD2}"/>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Conexão API da </a:t>
            </a:r>
            <a:r>
              <a:rPr lang="pt-BR" sz="3200" b="1" dirty="0" err="1"/>
              <a:t>markestack</a:t>
            </a:r>
            <a:r>
              <a:rPr lang="pt-BR" sz="3200" b="1" dirty="0"/>
              <a:t> – pt2</a:t>
            </a:r>
          </a:p>
        </p:txBody>
      </p:sp>
      <p:sp>
        <p:nvSpPr>
          <p:cNvPr id="12" name="Subtítulo 2">
            <a:extLst>
              <a:ext uri="{FF2B5EF4-FFF2-40B4-BE49-F238E27FC236}">
                <a16:creationId xmlns:a16="http://schemas.microsoft.com/office/drawing/2014/main" id="{0A026E41-8DEC-ACD2-6A90-AAF36CA364A8}"/>
              </a:ext>
            </a:extLst>
          </p:cNvPr>
          <p:cNvSpPr txBox="1">
            <a:spLocks/>
          </p:cNvSpPr>
          <p:nvPr/>
        </p:nvSpPr>
        <p:spPr>
          <a:xfrm>
            <a:off x="444842" y="865633"/>
            <a:ext cx="11390541" cy="188946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Com as 2 conexões bem sucedidas nas APIs de </a:t>
            </a:r>
            <a:r>
              <a:rPr lang="pt-BR" sz="1400" dirty="0" err="1">
                <a:solidFill>
                  <a:schemeClr val="accent1"/>
                </a:solidFill>
              </a:rPr>
              <a:t>Historical</a:t>
            </a:r>
            <a:r>
              <a:rPr lang="pt-BR" sz="1400" dirty="0">
                <a:solidFill>
                  <a:schemeClr val="accent1"/>
                </a:solidFill>
              </a:rPr>
              <a:t> Data e </a:t>
            </a:r>
            <a:r>
              <a:rPr lang="pt-BR" sz="1400" dirty="0" err="1">
                <a:solidFill>
                  <a:schemeClr val="accent1"/>
                </a:solidFill>
              </a:rPr>
              <a:t>Tickers</a:t>
            </a:r>
            <a:r>
              <a:rPr lang="pt-BR" sz="1400" dirty="0">
                <a:solidFill>
                  <a:schemeClr val="accent1"/>
                </a:solidFill>
              </a:rPr>
              <a:t> da </a:t>
            </a:r>
            <a:r>
              <a:rPr lang="pt-BR" sz="1400" dirty="0" err="1">
                <a:solidFill>
                  <a:schemeClr val="accent1"/>
                </a:solidFill>
              </a:rPr>
              <a:t>Marketstack</a:t>
            </a:r>
            <a:r>
              <a:rPr lang="pt-BR" sz="1400" dirty="0">
                <a:solidFill>
                  <a:schemeClr val="accent1"/>
                </a:solidFill>
              </a:rPr>
              <a:t>, foi possível consolidar um </a:t>
            </a:r>
            <a:r>
              <a:rPr lang="pt-BR" sz="1400" dirty="0" err="1">
                <a:solidFill>
                  <a:schemeClr val="accent1"/>
                </a:solidFill>
              </a:rPr>
              <a:t>Dataframe</a:t>
            </a:r>
            <a:r>
              <a:rPr lang="pt-BR" sz="1400" dirty="0">
                <a:solidFill>
                  <a:schemeClr val="accent1"/>
                </a:solidFill>
              </a:rPr>
              <a:t> final das APIs</a:t>
            </a:r>
          </a:p>
          <a:p>
            <a:pPr marL="0" indent="0">
              <a:buNone/>
            </a:pPr>
            <a:r>
              <a:rPr lang="pt-BR" sz="1400" dirty="0">
                <a:solidFill>
                  <a:schemeClr val="accent1"/>
                </a:solidFill>
              </a:rPr>
              <a:t>- Arquivo disponível em formato Excel na pasta Arquivos </a:t>
            </a:r>
          </a:p>
        </p:txBody>
      </p:sp>
      <p:sp>
        <p:nvSpPr>
          <p:cNvPr id="8" name="Subtítulo 2">
            <a:extLst>
              <a:ext uri="{FF2B5EF4-FFF2-40B4-BE49-F238E27FC236}">
                <a16:creationId xmlns:a16="http://schemas.microsoft.com/office/drawing/2014/main" id="{A754C60B-81DD-F970-A8F3-9D7BE3BCB2F9}"/>
              </a:ext>
            </a:extLst>
          </p:cNvPr>
          <p:cNvSpPr txBox="1">
            <a:spLocks/>
          </p:cNvSpPr>
          <p:nvPr/>
        </p:nvSpPr>
        <p:spPr>
          <a:xfrm>
            <a:off x="444842" y="1329477"/>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2400" dirty="0">
              <a:solidFill>
                <a:srgbClr val="7CEBFF"/>
              </a:solidFill>
            </a:endParaRPr>
          </a:p>
          <a:p>
            <a:endParaRPr lang="pt-BR" dirty="0">
              <a:solidFill>
                <a:srgbClr val="7CEBFF"/>
              </a:solidFill>
            </a:endParaRPr>
          </a:p>
        </p:txBody>
      </p:sp>
      <p:pic>
        <p:nvPicPr>
          <p:cNvPr id="3" name="Imagem 2">
            <a:extLst>
              <a:ext uri="{FF2B5EF4-FFF2-40B4-BE49-F238E27FC236}">
                <a16:creationId xmlns:a16="http://schemas.microsoft.com/office/drawing/2014/main" id="{194D28A4-FCE2-ED68-C692-5E043BDF407F}"/>
              </a:ext>
            </a:extLst>
          </p:cNvPr>
          <p:cNvPicPr>
            <a:picLocks noChangeAspect="1"/>
          </p:cNvPicPr>
          <p:nvPr/>
        </p:nvPicPr>
        <p:blipFill>
          <a:blip r:embed="rId3"/>
          <a:stretch>
            <a:fillRect/>
          </a:stretch>
        </p:blipFill>
        <p:spPr>
          <a:xfrm>
            <a:off x="2407093" y="2309347"/>
            <a:ext cx="6504600" cy="3978223"/>
          </a:xfrm>
          <a:prstGeom prst="rect">
            <a:avLst/>
          </a:prstGeom>
        </p:spPr>
      </p:pic>
    </p:spTree>
    <p:extLst>
      <p:ext uri="{BB962C8B-B14F-4D97-AF65-F5344CB8AC3E}">
        <p14:creationId xmlns:p14="http://schemas.microsoft.com/office/powerpoint/2010/main" val="554617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0575B-DF64-C642-BC24-D74CA07D5ADF}"/>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EA0D04E2-F6BF-0EBF-314A-B2D2874D928E}"/>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err="1"/>
              <a:t>Dataframe</a:t>
            </a:r>
            <a:r>
              <a:rPr lang="pt-BR" sz="3200" b="1" dirty="0"/>
              <a:t> final api</a:t>
            </a:r>
          </a:p>
        </p:txBody>
      </p:sp>
      <p:sp>
        <p:nvSpPr>
          <p:cNvPr id="12" name="Subtítulo 2">
            <a:extLst>
              <a:ext uri="{FF2B5EF4-FFF2-40B4-BE49-F238E27FC236}">
                <a16:creationId xmlns:a16="http://schemas.microsoft.com/office/drawing/2014/main" id="{46222CDB-4764-AE51-332D-C93459EC8E0F}"/>
              </a:ext>
            </a:extLst>
          </p:cNvPr>
          <p:cNvSpPr txBox="1">
            <a:spLocks/>
          </p:cNvSpPr>
          <p:nvPr/>
        </p:nvSpPr>
        <p:spPr>
          <a:xfrm>
            <a:off x="432484" y="779309"/>
            <a:ext cx="11390541" cy="2470691"/>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O </a:t>
            </a:r>
            <a:r>
              <a:rPr lang="pt-BR" sz="1400" dirty="0" err="1">
                <a:solidFill>
                  <a:schemeClr val="accent1"/>
                </a:solidFill>
              </a:rPr>
              <a:t>Dataframe</a:t>
            </a:r>
            <a:r>
              <a:rPr lang="pt-BR" sz="1400" dirty="0">
                <a:solidFill>
                  <a:schemeClr val="accent1"/>
                </a:solidFill>
              </a:rPr>
              <a:t> final das APIs foi de suma importância para o trabalho, pois possibilitou acompanhar o comportamento das ações das empresas que foram selecionados por seu desempenho nos Lucros e </a:t>
            </a:r>
            <a:r>
              <a:rPr lang="pt-BR" sz="1400" dirty="0" err="1">
                <a:solidFill>
                  <a:schemeClr val="accent1"/>
                </a:solidFill>
              </a:rPr>
              <a:t>DFCs</a:t>
            </a:r>
            <a:r>
              <a:rPr lang="pt-BR" sz="1400" dirty="0">
                <a:solidFill>
                  <a:schemeClr val="accent1"/>
                </a:solidFill>
              </a:rPr>
              <a:t>.</a:t>
            </a:r>
          </a:p>
          <a:p>
            <a:pPr marL="0" indent="0">
              <a:buNone/>
            </a:pPr>
            <a:r>
              <a:rPr lang="pt-BR" sz="1400" dirty="0">
                <a:solidFill>
                  <a:schemeClr val="accent1"/>
                </a:solidFill>
              </a:rPr>
              <a:t>- Embora financeiramente estáveis, algumas empresas podem apresentar volatilidade nos preços de suas ações, mesmo que num período curto de tempo, como os gráficos abaixo ilustram. Para essa análise de preços, outros tipos de dados e métodos de análise de dados deveriam ser agregados ao modelo.</a:t>
            </a:r>
          </a:p>
        </p:txBody>
      </p:sp>
      <p:sp>
        <p:nvSpPr>
          <p:cNvPr id="8" name="Subtítulo 2">
            <a:extLst>
              <a:ext uri="{FF2B5EF4-FFF2-40B4-BE49-F238E27FC236}">
                <a16:creationId xmlns:a16="http://schemas.microsoft.com/office/drawing/2014/main" id="{6C7D270F-5BB5-643E-B89B-191353FFFE21}"/>
              </a:ext>
            </a:extLst>
          </p:cNvPr>
          <p:cNvSpPr txBox="1">
            <a:spLocks/>
          </p:cNvSpPr>
          <p:nvPr/>
        </p:nvSpPr>
        <p:spPr>
          <a:xfrm>
            <a:off x="444842" y="1329477"/>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2400" dirty="0">
              <a:solidFill>
                <a:srgbClr val="7CEBFF"/>
              </a:solidFill>
            </a:endParaRPr>
          </a:p>
          <a:p>
            <a:endParaRPr lang="pt-BR" dirty="0">
              <a:solidFill>
                <a:srgbClr val="7CEBFF"/>
              </a:solidFill>
            </a:endParaRPr>
          </a:p>
        </p:txBody>
      </p:sp>
      <p:pic>
        <p:nvPicPr>
          <p:cNvPr id="4" name="Imagem 3">
            <a:extLst>
              <a:ext uri="{FF2B5EF4-FFF2-40B4-BE49-F238E27FC236}">
                <a16:creationId xmlns:a16="http://schemas.microsoft.com/office/drawing/2014/main" id="{133395C9-B718-C3C3-9E9D-FE1F3ECBAB73}"/>
              </a:ext>
            </a:extLst>
          </p:cNvPr>
          <p:cNvPicPr>
            <a:picLocks noChangeAspect="1"/>
          </p:cNvPicPr>
          <p:nvPr/>
        </p:nvPicPr>
        <p:blipFill>
          <a:blip r:embed="rId3"/>
          <a:stretch>
            <a:fillRect/>
          </a:stretch>
        </p:blipFill>
        <p:spPr>
          <a:xfrm>
            <a:off x="119278" y="3085254"/>
            <a:ext cx="3963471" cy="3516183"/>
          </a:xfrm>
          <a:prstGeom prst="rect">
            <a:avLst/>
          </a:prstGeom>
        </p:spPr>
      </p:pic>
      <p:pic>
        <p:nvPicPr>
          <p:cNvPr id="10" name="Imagem 9">
            <a:extLst>
              <a:ext uri="{FF2B5EF4-FFF2-40B4-BE49-F238E27FC236}">
                <a16:creationId xmlns:a16="http://schemas.microsoft.com/office/drawing/2014/main" id="{021DDB22-9DC8-38D1-D1BA-ECA200297D77}"/>
              </a:ext>
            </a:extLst>
          </p:cNvPr>
          <p:cNvPicPr>
            <a:picLocks noChangeAspect="1"/>
          </p:cNvPicPr>
          <p:nvPr/>
        </p:nvPicPr>
        <p:blipFill>
          <a:blip r:embed="rId4"/>
          <a:stretch>
            <a:fillRect/>
          </a:stretch>
        </p:blipFill>
        <p:spPr>
          <a:xfrm>
            <a:off x="4073489" y="3085254"/>
            <a:ext cx="3857780" cy="3448221"/>
          </a:xfrm>
          <a:prstGeom prst="rect">
            <a:avLst/>
          </a:prstGeom>
        </p:spPr>
      </p:pic>
      <p:pic>
        <p:nvPicPr>
          <p:cNvPr id="13" name="Imagem 12">
            <a:extLst>
              <a:ext uri="{FF2B5EF4-FFF2-40B4-BE49-F238E27FC236}">
                <a16:creationId xmlns:a16="http://schemas.microsoft.com/office/drawing/2014/main" id="{4315990E-4B36-31DD-E50E-B78A38C947CE}"/>
              </a:ext>
            </a:extLst>
          </p:cNvPr>
          <p:cNvPicPr>
            <a:picLocks noChangeAspect="1"/>
          </p:cNvPicPr>
          <p:nvPr/>
        </p:nvPicPr>
        <p:blipFill>
          <a:blip r:embed="rId5"/>
          <a:stretch>
            <a:fillRect/>
          </a:stretch>
        </p:blipFill>
        <p:spPr>
          <a:xfrm>
            <a:off x="7858500" y="3085254"/>
            <a:ext cx="3901016" cy="3564507"/>
          </a:xfrm>
          <a:prstGeom prst="rect">
            <a:avLst/>
          </a:prstGeom>
        </p:spPr>
      </p:pic>
    </p:spTree>
    <p:extLst>
      <p:ext uri="{BB962C8B-B14F-4D97-AF65-F5344CB8AC3E}">
        <p14:creationId xmlns:p14="http://schemas.microsoft.com/office/powerpoint/2010/main" val="3022548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D0F12-9C99-2B0E-AAA9-5D13CCEF35E4}"/>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29DF0E4B-9E66-FE58-6859-CDE7FC99E4FE}"/>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Ferramentas utilizadas</a:t>
            </a:r>
          </a:p>
        </p:txBody>
      </p:sp>
      <p:sp>
        <p:nvSpPr>
          <p:cNvPr id="12" name="Subtítulo 2">
            <a:extLst>
              <a:ext uri="{FF2B5EF4-FFF2-40B4-BE49-F238E27FC236}">
                <a16:creationId xmlns:a16="http://schemas.microsoft.com/office/drawing/2014/main" id="{EB648A3E-082C-01B4-0937-9532E011254A}"/>
              </a:ext>
            </a:extLst>
          </p:cNvPr>
          <p:cNvSpPr txBox="1">
            <a:spLocks/>
          </p:cNvSpPr>
          <p:nvPr/>
        </p:nvSpPr>
        <p:spPr>
          <a:xfrm>
            <a:off x="432484" y="779309"/>
            <a:ext cx="11390541" cy="2903005"/>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Tx/>
              <a:buChar char="-"/>
            </a:pPr>
            <a:r>
              <a:rPr lang="pt-BR" dirty="0">
                <a:solidFill>
                  <a:schemeClr val="accent1"/>
                </a:solidFill>
              </a:rPr>
              <a:t>Python </a:t>
            </a:r>
          </a:p>
          <a:p>
            <a:pPr lvl="1">
              <a:buFontTx/>
              <a:buChar char="-"/>
            </a:pPr>
            <a:r>
              <a:rPr lang="pt-BR" dirty="0">
                <a:solidFill>
                  <a:schemeClr val="accent1"/>
                </a:solidFill>
              </a:rPr>
              <a:t>IDE: Google </a:t>
            </a:r>
            <a:r>
              <a:rPr lang="pt-BR" dirty="0" err="1">
                <a:solidFill>
                  <a:schemeClr val="accent1"/>
                </a:solidFill>
              </a:rPr>
              <a:t>Colab</a:t>
            </a:r>
            <a:r>
              <a:rPr lang="pt-BR" dirty="0">
                <a:solidFill>
                  <a:schemeClr val="accent1"/>
                </a:solidFill>
              </a:rPr>
              <a:t> e VS </a:t>
            </a:r>
            <a:r>
              <a:rPr lang="pt-BR" dirty="0" err="1">
                <a:solidFill>
                  <a:schemeClr val="accent1"/>
                </a:solidFill>
              </a:rPr>
              <a:t>Code</a:t>
            </a:r>
            <a:endParaRPr lang="pt-BR" dirty="0">
              <a:solidFill>
                <a:schemeClr val="accent1"/>
              </a:solidFill>
            </a:endParaRPr>
          </a:p>
          <a:p>
            <a:pPr lvl="1">
              <a:buFontTx/>
              <a:buChar char="-"/>
            </a:pPr>
            <a:r>
              <a:rPr lang="pt-BR" dirty="0">
                <a:solidFill>
                  <a:schemeClr val="accent1"/>
                </a:solidFill>
              </a:rPr>
              <a:t>Bibliotecas: pandas, </a:t>
            </a:r>
            <a:r>
              <a:rPr lang="pt-BR" dirty="0" err="1">
                <a:solidFill>
                  <a:schemeClr val="accent1"/>
                </a:solidFill>
              </a:rPr>
              <a:t>kagglehub</a:t>
            </a:r>
            <a:r>
              <a:rPr lang="pt-BR" dirty="0">
                <a:solidFill>
                  <a:schemeClr val="accent1"/>
                </a:solidFill>
              </a:rPr>
              <a:t>, </a:t>
            </a:r>
            <a:r>
              <a:rPr lang="pt-BR" dirty="0" err="1">
                <a:solidFill>
                  <a:schemeClr val="accent1"/>
                </a:solidFill>
              </a:rPr>
              <a:t>requests</a:t>
            </a:r>
            <a:r>
              <a:rPr lang="pt-BR" dirty="0">
                <a:solidFill>
                  <a:schemeClr val="accent1"/>
                </a:solidFill>
              </a:rPr>
              <a:t>, </a:t>
            </a:r>
            <a:r>
              <a:rPr lang="pt-BR" dirty="0" err="1">
                <a:solidFill>
                  <a:schemeClr val="accent1"/>
                </a:solidFill>
              </a:rPr>
              <a:t>seaborn</a:t>
            </a:r>
            <a:r>
              <a:rPr lang="pt-BR" dirty="0">
                <a:solidFill>
                  <a:schemeClr val="accent1"/>
                </a:solidFill>
              </a:rPr>
              <a:t> </a:t>
            </a:r>
            <a:r>
              <a:rPr lang="pt-BR" dirty="0" err="1">
                <a:solidFill>
                  <a:schemeClr val="accent1"/>
                </a:solidFill>
              </a:rPr>
              <a:t>matplotlib</a:t>
            </a:r>
            <a:r>
              <a:rPr lang="pt-BR" dirty="0">
                <a:solidFill>
                  <a:schemeClr val="accent1"/>
                </a:solidFill>
              </a:rPr>
              <a:t>, </a:t>
            </a:r>
            <a:r>
              <a:rPr lang="pt-BR" dirty="0" err="1">
                <a:solidFill>
                  <a:schemeClr val="accent1"/>
                </a:solidFill>
              </a:rPr>
              <a:t>dotenv</a:t>
            </a:r>
            <a:r>
              <a:rPr lang="pt-BR" dirty="0">
                <a:solidFill>
                  <a:schemeClr val="accent1"/>
                </a:solidFill>
              </a:rPr>
              <a:t>, os</a:t>
            </a:r>
          </a:p>
          <a:p>
            <a:pPr>
              <a:buFontTx/>
              <a:buChar char="-"/>
            </a:pPr>
            <a:r>
              <a:rPr lang="pt-BR" dirty="0" err="1">
                <a:solidFill>
                  <a:schemeClr val="accent1"/>
                </a:solidFill>
              </a:rPr>
              <a:t>Git</a:t>
            </a:r>
            <a:endParaRPr lang="pt-BR" dirty="0">
              <a:solidFill>
                <a:schemeClr val="accent1"/>
              </a:solidFill>
            </a:endParaRPr>
          </a:p>
          <a:p>
            <a:pPr>
              <a:buFontTx/>
              <a:buChar char="-"/>
            </a:pPr>
            <a:r>
              <a:rPr lang="pt-BR" dirty="0">
                <a:solidFill>
                  <a:schemeClr val="accent1"/>
                </a:solidFill>
              </a:rPr>
              <a:t>Github</a:t>
            </a:r>
          </a:p>
        </p:txBody>
      </p:sp>
      <p:sp>
        <p:nvSpPr>
          <p:cNvPr id="8" name="Subtítulo 2">
            <a:extLst>
              <a:ext uri="{FF2B5EF4-FFF2-40B4-BE49-F238E27FC236}">
                <a16:creationId xmlns:a16="http://schemas.microsoft.com/office/drawing/2014/main" id="{2D731CAA-69BE-C6A6-BD91-3140B49684B6}"/>
              </a:ext>
            </a:extLst>
          </p:cNvPr>
          <p:cNvSpPr txBox="1">
            <a:spLocks/>
          </p:cNvSpPr>
          <p:nvPr/>
        </p:nvSpPr>
        <p:spPr>
          <a:xfrm>
            <a:off x="444842" y="1354191"/>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pt-BR" dirty="0">
              <a:solidFill>
                <a:srgbClr val="7CEBFF"/>
              </a:solidFill>
            </a:endParaRPr>
          </a:p>
        </p:txBody>
      </p:sp>
    </p:spTree>
    <p:extLst>
      <p:ext uri="{BB962C8B-B14F-4D97-AF65-F5344CB8AC3E}">
        <p14:creationId xmlns:p14="http://schemas.microsoft.com/office/powerpoint/2010/main" val="755374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9FD78-3F07-F70C-92FE-C7C2612D5418}"/>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F67CE471-1EFE-E2C4-CC8D-5F00E617FE5F}"/>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Considerações e Limitações</a:t>
            </a:r>
          </a:p>
        </p:txBody>
      </p:sp>
      <p:sp>
        <p:nvSpPr>
          <p:cNvPr id="12" name="Subtítulo 2">
            <a:extLst>
              <a:ext uri="{FF2B5EF4-FFF2-40B4-BE49-F238E27FC236}">
                <a16:creationId xmlns:a16="http://schemas.microsoft.com/office/drawing/2014/main" id="{4C67684C-4410-0A5C-FCF3-CE3343E60640}"/>
              </a:ext>
            </a:extLst>
          </p:cNvPr>
          <p:cNvSpPr txBox="1">
            <a:spLocks/>
          </p:cNvSpPr>
          <p:nvPr/>
        </p:nvSpPr>
        <p:spPr>
          <a:xfrm>
            <a:off x="400729" y="149115"/>
            <a:ext cx="11390541" cy="594276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A data de publicação não faz referência a qual período está sendo considerado nas demonstrações financeiras, portanto assume-se que o ano/mês da data é o próprio ano (exercício) fiscal.</a:t>
            </a:r>
          </a:p>
          <a:p>
            <a:pPr marL="0" indent="0">
              <a:buNone/>
            </a:pPr>
            <a:r>
              <a:rPr lang="pt-BR" sz="1400" dirty="0">
                <a:solidFill>
                  <a:schemeClr val="accent1"/>
                </a:solidFill>
              </a:rPr>
              <a:t>-  A análise das demonstrações é limitada pela falta dos balanços patrimoniais das empresas. Desta forma, fica inviável analisar índices cruciais como liquidez, endividamento e giro de estoque por exemplo.</a:t>
            </a:r>
          </a:p>
          <a:p>
            <a:pPr marL="0" indent="0">
              <a:buNone/>
            </a:pPr>
            <a:r>
              <a:rPr lang="pt-BR" sz="1400" dirty="0">
                <a:solidFill>
                  <a:schemeClr val="accent1"/>
                </a:solidFill>
              </a:rPr>
              <a:t>- O Lucro Líquido (Net Income) é apenas um pequeno extrato da DRE (P&amp;L Report), portanto métricas como EBITDA e EBIT e contas como Receita Bruta, Impostos, CMV/CSP e Despesas Operacionais de um determinado exercício não foram consideradas pela falta dos mesmos.</a:t>
            </a:r>
          </a:p>
          <a:p>
            <a:pPr marL="0" indent="0">
              <a:buNone/>
            </a:pPr>
            <a:r>
              <a:rPr lang="pt-BR" sz="1400" dirty="0">
                <a:solidFill>
                  <a:schemeClr val="accent1"/>
                </a:solidFill>
              </a:rPr>
              <a:t>-  A análise de Fluxo de Caixa Investimento foi desconsiderada do produto final da análise, pois entende-se que tais movimentações compõem mudanças no Ativo da empresa, o qual não pode ser analisado pela falta do mesmo. O </a:t>
            </a:r>
            <a:r>
              <a:rPr lang="pt-BR" sz="1400" dirty="0" err="1">
                <a:solidFill>
                  <a:schemeClr val="accent1"/>
                </a:solidFill>
              </a:rPr>
              <a:t>Dataset</a:t>
            </a:r>
            <a:r>
              <a:rPr lang="pt-BR" sz="1400" dirty="0">
                <a:solidFill>
                  <a:schemeClr val="accent1"/>
                </a:solidFill>
              </a:rPr>
              <a:t> original não fornece detalhamento das aquisições e receitas financeiras, por exemplo.</a:t>
            </a:r>
          </a:p>
          <a:p>
            <a:pPr marL="0" indent="0">
              <a:buNone/>
            </a:pPr>
            <a:r>
              <a:rPr lang="pt-BR" sz="1400" dirty="0">
                <a:solidFill>
                  <a:schemeClr val="accent1"/>
                </a:solidFill>
              </a:rPr>
              <a:t>-  A API da </a:t>
            </a:r>
            <a:r>
              <a:rPr lang="pt-BR" sz="1400" dirty="0" err="1">
                <a:solidFill>
                  <a:schemeClr val="accent1"/>
                </a:solidFill>
              </a:rPr>
              <a:t>Marketstack</a:t>
            </a:r>
            <a:r>
              <a:rPr lang="pt-BR" sz="1400" dirty="0">
                <a:solidFill>
                  <a:schemeClr val="accent1"/>
                </a:solidFill>
              </a:rPr>
              <a:t> tem um limite de 100 </a:t>
            </a:r>
            <a:r>
              <a:rPr lang="pt-BR" sz="1400" dirty="0" err="1">
                <a:solidFill>
                  <a:schemeClr val="accent1"/>
                </a:solidFill>
              </a:rPr>
              <a:t>requests</a:t>
            </a:r>
            <a:r>
              <a:rPr lang="pt-BR" sz="1400" dirty="0">
                <a:solidFill>
                  <a:schemeClr val="accent1"/>
                </a:solidFill>
              </a:rPr>
              <a:t> por mês no plano "Free". Portanto, não foi possível extrair dados históricos robustos sobre o comportamento dos preços de abertura e fechamento das empresas selecionadas entre os períodos analisados.</a:t>
            </a:r>
          </a:p>
          <a:p>
            <a:pPr marL="0" indent="0">
              <a:buNone/>
            </a:pPr>
            <a:r>
              <a:rPr lang="pt-BR" sz="1400" dirty="0">
                <a:solidFill>
                  <a:schemeClr val="accent1"/>
                </a:solidFill>
              </a:rPr>
              <a:t>-  A análise, como um todo, desconsidera completamente fatores macroeconômicos e tendências de mercado.</a:t>
            </a:r>
          </a:p>
        </p:txBody>
      </p:sp>
      <p:sp>
        <p:nvSpPr>
          <p:cNvPr id="8" name="Subtítulo 2">
            <a:extLst>
              <a:ext uri="{FF2B5EF4-FFF2-40B4-BE49-F238E27FC236}">
                <a16:creationId xmlns:a16="http://schemas.microsoft.com/office/drawing/2014/main" id="{550E5879-2DFD-904A-4E45-8AB6954A1722}"/>
              </a:ext>
            </a:extLst>
          </p:cNvPr>
          <p:cNvSpPr txBox="1">
            <a:spLocks/>
          </p:cNvSpPr>
          <p:nvPr/>
        </p:nvSpPr>
        <p:spPr>
          <a:xfrm>
            <a:off x="444842" y="1329477"/>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2400" dirty="0">
              <a:solidFill>
                <a:srgbClr val="7CEBFF"/>
              </a:solidFill>
            </a:endParaRPr>
          </a:p>
          <a:p>
            <a:endParaRPr lang="pt-BR" dirty="0">
              <a:solidFill>
                <a:srgbClr val="7CEBFF"/>
              </a:solidFill>
            </a:endParaRPr>
          </a:p>
        </p:txBody>
      </p:sp>
    </p:spTree>
    <p:extLst>
      <p:ext uri="{BB962C8B-B14F-4D97-AF65-F5344CB8AC3E}">
        <p14:creationId xmlns:p14="http://schemas.microsoft.com/office/powerpoint/2010/main" val="3015384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CE5B2-91D6-794D-1003-68EF9986945E}"/>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6009DC85-5D58-6631-F7EE-B9DBF5A597EA}"/>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Conclusões</a:t>
            </a:r>
          </a:p>
        </p:txBody>
      </p:sp>
      <p:sp>
        <p:nvSpPr>
          <p:cNvPr id="12" name="Subtítulo 2">
            <a:extLst>
              <a:ext uri="{FF2B5EF4-FFF2-40B4-BE49-F238E27FC236}">
                <a16:creationId xmlns:a16="http://schemas.microsoft.com/office/drawing/2014/main" id="{D6EBED6F-BAF6-A1A3-486E-13C33D3B0777}"/>
              </a:ext>
            </a:extLst>
          </p:cNvPr>
          <p:cNvSpPr txBox="1">
            <a:spLocks/>
          </p:cNvSpPr>
          <p:nvPr/>
        </p:nvSpPr>
        <p:spPr>
          <a:xfrm>
            <a:off x="432484" y="779309"/>
            <a:ext cx="11390541" cy="588098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1400" dirty="0">
              <a:solidFill>
                <a:schemeClr val="accent1"/>
              </a:solidFill>
            </a:endParaRPr>
          </a:p>
        </p:txBody>
      </p:sp>
      <p:sp>
        <p:nvSpPr>
          <p:cNvPr id="2" name="Subtítulo 2">
            <a:extLst>
              <a:ext uri="{FF2B5EF4-FFF2-40B4-BE49-F238E27FC236}">
                <a16:creationId xmlns:a16="http://schemas.microsoft.com/office/drawing/2014/main" id="{2F2B2994-2963-F7B0-8573-ADA1D73B9271}"/>
              </a:ext>
            </a:extLst>
          </p:cNvPr>
          <p:cNvSpPr txBox="1">
            <a:spLocks/>
          </p:cNvSpPr>
          <p:nvPr/>
        </p:nvSpPr>
        <p:spPr>
          <a:xfrm>
            <a:off x="432484" y="913019"/>
            <a:ext cx="11390541" cy="356012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 O </a:t>
            </a:r>
            <a:r>
              <a:rPr lang="pt-BR" sz="1400" dirty="0" err="1">
                <a:solidFill>
                  <a:schemeClr val="accent1"/>
                </a:solidFill>
              </a:rPr>
              <a:t>Dataset</a:t>
            </a:r>
            <a:r>
              <a:rPr lang="pt-BR" sz="1400" dirty="0">
                <a:solidFill>
                  <a:schemeClr val="accent1"/>
                </a:solidFill>
              </a:rPr>
              <a:t> original tem inúmeros furos que tornam a análise um pouco mais desafiadora, afinal é preciso juntar vários conhecimentos contábeis e de análise de dados para entender a dinâmica e disposição do conjunto.</a:t>
            </a:r>
          </a:p>
          <a:p>
            <a:pPr marL="0" indent="0">
              <a:buNone/>
            </a:pPr>
            <a:r>
              <a:rPr lang="pt-BR" sz="1400" dirty="0">
                <a:solidFill>
                  <a:schemeClr val="accent1"/>
                </a:solidFill>
              </a:rPr>
              <a:t>-  Análises financeiras desbloqueiam inúmeros novos portais para a realidade de empresas listadas nas bolsas mundo afora. Unir Demonstrações financeiras completas (DRE, DFC, Balanço Patrimonial, entre outros) às análises de mercado e macroeconomia costumam dar mais confiabilidade na hora de comprar uma ação. </a:t>
            </a:r>
          </a:p>
          <a:p>
            <a:pPr marL="0" indent="0">
              <a:buNone/>
            </a:pPr>
            <a:r>
              <a:rPr lang="pt-BR" sz="1400" dirty="0">
                <a:solidFill>
                  <a:schemeClr val="accent1"/>
                </a:solidFill>
              </a:rPr>
              <a:t>- </a:t>
            </a:r>
            <a:r>
              <a:rPr lang="pt-BR" sz="1400" dirty="0" err="1">
                <a:solidFill>
                  <a:schemeClr val="accent1"/>
                </a:solidFill>
              </a:rPr>
              <a:t>Datasets</a:t>
            </a:r>
            <a:r>
              <a:rPr lang="pt-BR" sz="1400" dirty="0">
                <a:solidFill>
                  <a:schemeClr val="accent1"/>
                </a:solidFill>
              </a:rPr>
              <a:t> cheios de furos são um incômodo muito grande para os analistas.  Adoraria fazer inúmeras perguntas ao autor da base de dados.</a:t>
            </a:r>
          </a:p>
          <a:p>
            <a:pPr marL="0" indent="0">
              <a:buNone/>
            </a:pPr>
            <a:r>
              <a:rPr lang="pt-BR" sz="1400" dirty="0">
                <a:solidFill>
                  <a:schemeClr val="accent1"/>
                </a:solidFill>
              </a:rPr>
              <a:t>- O presente trabalho está bem longe de ser um conselho financeiro, faltam várias outras informações para uma tomada de decisão de comprar ações mais assertivas,  além do </a:t>
            </a:r>
            <a:r>
              <a:rPr lang="pt-BR" sz="1400" dirty="0" err="1">
                <a:solidFill>
                  <a:schemeClr val="accent1"/>
                </a:solidFill>
              </a:rPr>
              <a:t>Dataset</a:t>
            </a:r>
            <a:r>
              <a:rPr lang="pt-BR" sz="1400" dirty="0">
                <a:solidFill>
                  <a:schemeClr val="accent1"/>
                </a:solidFill>
              </a:rPr>
              <a:t> pouco confiável.</a:t>
            </a:r>
          </a:p>
        </p:txBody>
      </p:sp>
    </p:spTree>
    <p:extLst>
      <p:ext uri="{BB962C8B-B14F-4D97-AF65-F5344CB8AC3E}">
        <p14:creationId xmlns:p14="http://schemas.microsoft.com/office/powerpoint/2010/main" val="41936840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tângulo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tângulo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grpSp>
        <p:nvGrpSpPr>
          <p:cNvPr id="14" name="Grupo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tângulo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6" name="Retângulo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7" name="Retângulo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grpSp>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8527786" y="1414895"/>
            <a:ext cx="3081576" cy="1746762"/>
          </a:xfrm>
        </p:spPr>
        <p:txBody>
          <a:bodyPr rtlCol="0">
            <a:normAutofit/>
          </a:bodyPr>
          <a:lstStyle/>
          <a:p>
            <a:pPr rtl="0"/>
            <a:r>
              <a:rPr lang="pt-BR" dirty="0">
                <a:solidFill>
                  <a:srgbClr val="FFFFFF"/>
                </a:solidFill>
              </a:rPr>
              <a:t>Obrigado</a:t>
            </a:r>
          </a:p>
        </p:txBody>
      </p:sp>
      <p:pic>
        <p:nvPicPr>
          <p:cNvPr id="5" name="Imagem 4" descr="Números Digitai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
        <p:nvSpPr>
          <p:cNvPr id="7" name="Subtítulo 2">
            <a:extLst>
              <a:ext uri="{FF2B5EF4-FFF2-40B4-BE49-F238E27FC236}">
                <a16:creationId xmlns:a16="http://schemas.microsoft.com/office/drawing/2014/main" id="{8C02345A-706A-D011-A81A-84BCF7CF338A}"/>
              </a:ext>
            </a:extLst>
          </p:cNvPr>
          <p:cNvSpPr txBox="1">
            <a:spLocks/>
          </p:cNvSpPr>
          <p:nvPr/>
        </p:nvSpPr>
        <p:spPr>
          <a:xfrm>
            <a:off x="8757887" y="3464957"/>
            <a:ext cx="2271839" cy="875546"/>
          </a:xfrm>
          <a:prstGeom prst="rect">
            <a:avLst/>
          </a:prstGeom>
        </p:spPr>
        <p:txBody>
          <a:bodyPr vert="horz" lIns="91440" tIns="45720" rIns="91440" bIns="45720" rtlCol="0" anchor="ctr">
            <a:normAutofit fontScale="92500"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bg1"/>
                </a:solidFill>
              </a:rPr>
              <a:t>Email: </a:t>
            </a:r>
            <a:r>
              <a:rPr lang="pt-BR" sz="1400" dirty="0">
                <a:solidFill>
                  <a:schemeClr val="bg1"/>
                </a:solidFill>
                <a:hlinkClick r:id="rId4"/>
              </a:rPr>
              <a:t>irven.xavier@gmail.com</a:t>
            </a:r>
            <a:endParaRPr lang="pt-BR" sz="1400" dirty="0">
              <a:solidFill>
                <a:schemeClr val="bg1"/>
              </a:solidFill>
            </a:endParaRPr>
          </a:p>
          <a:p>
            <a:pPr marL="0" indent="0">
              <a:buNone/>
            </a:pPr>
            <a:r>
              <a:rPr lang="pt-BR" sz="1400" dirty="0">
                <a:solidFill>
                  <a:schemeClr val="bg1"/>
                </a:solidFill>
              </a:rPr>
              <a:t>In: </a:t>
            </a:r>
            <a:r>
              <a:rPr lang="pt-BR" sz="1400" dirty="0">
                <a:solidFill>
                  <a:schemeClr val="bg1"/>
                </a:solidFill>
                <a:hlinkClick r:id="rId5"/>
              </a:rPr>
              <a:t>Perfil do Linkedin</a:t>
            </a:r>
            <a:endParaRPr lang="pt-BR" sz="1400" dirty="0">
              <a:solidFill>
                <a:schemeClr val="bg1"/>
              </a:solidFill>
            </a:endParaRPr>
          </a:p>
          <a:p>
            <a:pPr marL="0" indent="0">
              <a:buNone/>
            </a:pPr>
            <a:r>
              <a:rPr lang="pt-BR" sz="1400" dirty="0">
                <a:solidFill>
                  <a:schemeClr val="bg1"/>
                </a:solidFill>
              </a:rPr>
              <a:t>Github: </a:t>
            </a:r>
            <a:r>
              <a:rPr lang="pt-BR" sz="1400" dirty="0">
                <a:solidFill>
                  <a:schemeClr val="bg1"/>
                </a:solidFill>
                <a:hlinkClick r:id="rId6"/>
              </a:rPr>
              <a:t>Github</a:t>
            </a:r>
            <a:endParaRPr lang="pt-BR" sz="1400" dirty="0">
              <a:solidFill>
                <a:schemeClr val="bg1"/>
              </a:solidFill>
            </a:endParaRPr>
          </a:p>
        </p:txBody>
      </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Personaliza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208438_TF56390039_Win32" id="{FCB14B3E-2B92-48B8-A334-05E7A8EE34E1}" vid="{B6EC9E21-8C82-4EB1-BBE7-A370F785D0C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{2DABE829-8223-4704-A8F4-9737F6035760}tf56390039_win32</Template>
  <TotalTime>793</TotalTime>
  <Words>1822</Words>
  <Application>Microsoft Office PowerPoint</Application>
  <PresentationFormat>Widescreen</PresentationFormat>
  <Paragraphs>150</Paragraphs>
  <Slides>22</Slides>
  <Notes>22</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22</vt:i4>
      </vt:variant>
    </vt:vector>
  </HeadingPairs>
  <TitlesOfParts>
    <vt:vector size="26" baseType="lpstr">
      <vt:lpstr>Calibri</vt:lpstr>
      <vt:lpstr>Gill Sans MT</vt:lpstr>
      <vt:lpstr>Wingdings 2</vt:lpstr>
      <vt:lpstr>Personalizado</vt:lpstr>
      <vt:lpstr>Análise das Top 50 empresas da NYSE e NASDAQ</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Obrigado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Irven Arabe</dc:creator>
  <cp:lastModifiedBy>Irven Arabe</cp:lastModifiedBy>
  <cp:revision>24</cp:revision>
  <dcterms:created xsi:type="dcterms:W3CDTF">2025-05-21T13:18:27Z</dcterms:created>
  <dcterms:modified xsi:type="dcterms:W3CDTF">2025-05-24T12:30:25Z</dcterms:modified>
</cp:coreProperties>
</file>